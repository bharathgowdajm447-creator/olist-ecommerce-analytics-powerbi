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6111F"/>
    <a:srgbClr val="CC00CC"/>
    <a:srgbClr val="CBD5E1"/>
    <a:srgbClr val="14B8A6"/>
    <a:srgbClr val="F8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9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24475D-8CE4-4211-A444-50EA1667882A}" type="datetimeFigureOut">
              <a:rPr lang="en-IN" smtClean="0"/>
              <a:t>08-06-2026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ED02CF-0C1A-47BC-99DD-FA840CAD9DA5}" type="slidenum">
              <a:rPr lang="en-IN" smtClean="0"/>
              <a:t>‹#›</a:t>
            </a:fld>
            <a:endParaRPr lang="en-IN"/>
          </a:p>
        </p:txBody>
      </p:sp>
    </p:spTree>
    <p:extLst>
      <p:ext uri="{BB962C8B-B14F-4D97-AF65-F5344CB8AC3E}">
        <p14:creationId xmlns:p14="http://schemas.microsoft.com/office/powerpoint/2010/main" val="1622061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40817-4F46-92B5-5019-62C80F4C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9ACFA64-D0C3-0443-EC71-666F245925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F3D7B9D-F788-8497-D7D3-A3F833AD4466}"/>
              </a:ext>
            </a:extLst>
          </p:cNvPr>
          <p:cNvSpPr>
            <a:spLocks noGrp="1"/>
          </p:cNvSpPr>
          <p:nvPr>
            <p:ph type="dt" sz="half" idx="10"/>
          </p:nvPr>
        </p:nvSpPr>
        <p:spPr/>
        <p:txBody>
          <a:bodyPr/>
          <a:lstStyle/>
          <a:p>
            <a:fld id="{A36035DA-AE1F-4575-BB07-82F42D7C1538}" type="datetime1">
              <a:rPr lang="en-IN" smtClean="0"/>
              <a:t>08-06-2026</a:t>
            </a:fld>
            <a:endParaRPr lang="en-IN"/>
          </a:p>
        </p:txBody>
      </p:sp>
      <p:sp>
        <p:nvSpPr>
          <p:cNvPr id="5" name="Footer Placeholder 4">
            <a:extLst>
              <a:ext uri="{FF2B5EF4-FFF2-40B4-BE49-F238E27FC236}">
                <a16:creationId xmlns:a16="http://schemas.microsoft.com/office/drawing/2014/main" id="{92856B33-4563-E3E2-ECD6-B4B32FB4C4BF}"/>
              </a:ext>
            </a:extLst>
          </p:cNvPr>
          <p:cNvSpPr>
            <a:spLocks noGrp="1"/>
          </p:cNvSpPr>
          <p:nvPr>
            <p:ph type="ftr" sz="quarter" idx="11"/>
          </p:nvPr>
        </p:nvSpPr>
        <p:spPr/>
        <p:txBody>
          <a:bodyPr/>
          <a:lstStyle/>
          <a:p>
            <a:r>
              <a:rPr lang="en-US"/>
              <a:t>Power BI | Ecommerce Analytics | Bharath Gowda J M</a:t>
            </a:r>
            <a:endParaRPr lang="en-IN"/>
          </a:p>
        </p:txBody>
      </p:sp>
      <p:sp>
        <p:nvSpPr>
          <p:cNvPr id="6" name="Slide Number Placeholder 5">
            <a:extLst>
              <a:ext uri="{FF2B5EF4-FFF2-40B4-BE49-F238E27FC236}">
                <a16:creationId xmlns:a16="http://schemas.microsoft.com/office/drawing/2014/main" id="{7422B544-913D-661D-BA4D-4AB6BFFFCBFF}"/>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1636265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26005-28C3-148F-B2D2-CD3FBB9B58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17E9D0-09F2-DD82-05ED-6B364ACCB9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BCDE7A-A27E-1A4F-F384-519A19B0CFF3}"/>
              </a:ext>
            </a:extLst>
          </p:cNvPr>
          <p:cNvSpPr>
            <a:spLocks noGrp="1"/>
          </p:cNvSpPr>
          <p:nvPr>
            <p:ph type="dt" sz="half" idx="10"/>
          </p:nvPr>
        </p:nvSpPr>
        <p:spPr/>
        <p:txBody>
          <a:bodyPr/>
          <a:lstStyle/>
          <a:p>
            <a:fld id="{E85E49E3-844D-4220-A25B-AB9D60409226}" type="datetime1">
              <a:rPr lang="en-IN" smtClean="0"/>
              <a:t>08-06-2026</a:t>
            </a:fld>
            <a:endParaRPr lang="en-IN"/>
          </a:p>
        </p:txBody>
      </p:sp>
      <p:sp>
        <p:nvSpPr>
          <p:cNvPr id="5" name="Footer Placeholder 4">
            <a:extLst>
              <a:ext uri="{FF2B5EF4-FFF2-40B4-BE49-F238E27FC236}">
                <a16:creationId xmlns:a16="http://schemas.microsoft.com/office/drawing/2014/main" id="{101F6397-FC36-89D7-C0AB-2D67F4974288}"/>
              </a:ext>
            </a:extLst>
          </p:cNvPr>
          <p:cNvSpPr>
            <a:spLocks noGrp="1"/>
          </p:cNvSpPr>
          <p:nvPr>
            <p:ph type="ftr" sz="quarter" idx="11"/>
          </p:nvPr>
        </p:nvSpPr>
        <p:spPr/>
        <p:txBody>
          <a:bodyPr/>
          <a:lstStyle/>
          <a:p>
            <a:r>
              <a:rPr lang="en-US"/>
              <a:t>Power BI | Ecommerce Analytics | Bharath Gowda J M</a:t>
            </a:r>
            <a:endParaRPr lang="en-IN"/>
          </a:p>
        </p:txBody>
      </p:sp>
      <p:sp>
        <p:nvSpPr>
          <p:cNvPr id="6" name="Slide Number Placeholder 5">
            <a:extLst>
              <a:ext uri="{FF2B5EF4-FFF2-40B4-BE49-F238E27FC236}">
                <a16:creationId xmlns:a16="http://schemas.microsoft.com/office/drawing/2014/main" id="{A5F85599-D5B8-3E0C-A570-201243F2B669}"/>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2771137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AC344-3BDF-1BF2-B6D6-78C0ABD6F0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66FA50C-9497-FB39-1F2B-5C1F8AEB6C0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9DB565C-B9B3-C4B1-BC7D-6E0A8AAE7F83}"/>
              </a:ext>
            </a:extLst>
          </p:cNvPr>
          <p:cNvSpPr>
            <a:spLocks noGrp="1"/>
          </p:cNvSpPr>
          <p:nvPr>
            <p:ph type="dt" sz="half" idx="10"/>
          </p:nvPr>
        </p:nvSpPr>
        <p:spPr/>
        <p:txBody>
          <a:bodyPr/>
          <a:lstStyle/>
          <a:p>
            <a:fld id="{090DECA8-B6FE-4EA8-8256-98B60A451770}" type="datetime1">
              <a:rPr lang="en-IN" smtClean="0"/>
              <a:t>08-06-2026</a:t>
            </a:fld>
            <a:endParaRPr lang="en-IN"/>
          </a:p>
        </p:txBody>
      </p:sp>
      <p:sp>
        <p:nvSpPr>
          <p:cNvPr id="5" name="Footer Placeholder 4">
            <a:extLst>
              <a:ext uri="{FF2B5EF4-FFF2-40B4-BE49-F238E27FC236}">
                <a16:creationId xmlns:a16="http://schemas.microsoft.com/office/drawing/2014/main" id="{27FAD54B-7527-0CEE-8464-66A0F5FBA6C8}"/>
              </a:ext>
            </a:extLst>
          </p:cNvPr>
          <p:cNvSpPr>
            <a:spLocks noGrp="1"/>
          </p:cNvSpPr>
          <p:nvPr>
            <p:ph type="ftr" sz="quarter" idx="11"/>
          </p:nvPr>
        </p:nvSpPr>
        <p:spPr/>
        <p:txBody>
          <a:bodyPr/>
          <a:lstStyle/>
          <a:p>
            <a:r>
              <a:rPr lang="en-US"/>
              <a:t>Power BI | Ecommerce Analytics | Bharath Gowda J M</a:t>
            </a:r>
            <a:endParaRPr lang="en-IN"/>
          </a:p>
        </p:txBody>
      </p:sp>
      <p:sp>
        <p:nvSpPr>
          <p:cNvPr id="6" name="Slide Number Placeholder 5">
            <a:extLst>
              <a:ext uri="{FF2B5EF4-FFF2-40B4-BE49-F238E27FC236}">
                <a16:creationId xmlns:a16="http://schemas.microsoft.com/office/drawing/2014/main" id="{85343FB6-50FB-EBA9-2CE0-7BE8751EA6F6}"/>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5761686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32700-ED89-A63C-3995-23CFCCCDEBC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2853DD-4584-DAD6-A6A8-E042ADD8E9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49A3D3-5520-9F58-D7A9-649408CD92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F2ABD39-22A1-D5AF-52DF-A3F2AE4DFA69}"/>
              </a:ext>
            </a:extLst>
          </p:cNvPr>
          <p:cNvSpPr>
            <a:spLocks noGrp="1"/>
          </p:cNvSpPr>
          <p:nvPr>
            <p:ph type="dt" sz="half" idx="10"/>
          </p:nvPr>
        </p:nvSpPr>
        <p:spPr/>
        <p:txBody>
          <a:bodyPr/>
          <a:lstStyle/>
          <a:p>
            <a:fld id="{8228A84D-94AC-446D-BCD2-FD9198420DB4}" type="datetime1">
              <a:rPr lang="en-IN" smtClean="0"/>
              <a:t>08-06-2026</a:t>
            </a:fld>
            <a:endParaRPr lang="en-IN"/>
          </a:p>
        </p:txBody>
      </p:sp>
      <p:sp>
        <p:nvSpPr>
          <p:cNvPr id="6" name="Footer Placeholder 5">
            <a:extLst>
              <a:ext uri="{FF2B5EF4-FFF2-40B4-BE49-F238E27FC236}">
                <a16:creationId xmlns:a16="http://schemas.microsoft.com/office/drawing/2014/main" id="{F5BAD4B6-4A55-5D15-07B6-3123F5AA805C}"/>
              </a:ext>
            </a:extLst>
          </p:cNvPr>
          <p:cNvSpPr>
            <a:spLocks noGrp="1"/>
          </p:cNvSpPr>
          <p:nvPr>
            <p:ph type="ftr" sz="quarter" idx="11"/>
          </p:nvPr>
        </p:nvSpPr>
        <p:spPr/>
        <p:txBody>
          <a:bodyPr/>
          <a:lstStyle/>
          <a:p>
            <a:r>
              <a:rPr lang="en-US"/>
              <a:t>Power BI | Ecommerce Analytics | Bharath Gowda J M</a:t>
            </a:r>
            <a:endParaRPr lang="en-IN"/>
          </a:p>
        </p:txBody>
      </p:sp>
      <p:sp>
        <p:nvSpPr>
          <p:cNvPr id="7" name="Slide Number Placeholder 6">
            <a:extLst>
              <a:ext uri="{FF2B5EF4-FFF2-40B4-BE49-F238E27FC236}">
                <a16:creationId xmlns:a16="http://schemas.microsoft.com/office/drawing/2014/main" id="{92409219-366F-2F9A-A7F1-E3252587FC55}"/>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3237125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B2232-F406-D4D1-2F53-D856E00E532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731878F-896F-1CCD-C28F-6CBB77A8E4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FAA9D27-B0D8-56BF-90CE-289E72B4A2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4EB5624-4940-8999-D6DD-4E999DD4C5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089422-2B97-88F7-983E-12D0783BBF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34D54C-D8A0-A36B-FFC5-6074D148B91B}"/>
              </a:ext>
            </a:extLst>
          </p:cNvPr>
          <p:cNvSpPr>
            <a:spLocks noGrp="1"/>
          </p:cNvSpPr>
          <p:nvPr>
            <p:ph type="dt" sz="half" idx="10"/>
          </p:nvPr>
        </p:nvSpPr>
        <p:spPr/>
        <p:txBody>
          <a:bodyPr/>
          <a:lstStyle/>
          <a:p>
            <a:fld id="{96FC18CD-12B6-41B3-894E-33157A4AF9A3}" type="datetime1">
              <a:rPr lang="en-IN" smtClean="0"/>
              <a:t>08-06-2026</a:t>
            </a:fld>
            <a:endParaRPr lang="en-IN"/>
          </a:p>
        </p:txBody>
      </p:sp>
      <p:sp>
        <p:nvSpPr>
          <p:cNvPr id="8" name="Footer Placeholder 7">
            <a:extLst>
              <a:ext uri="{FF2B5EF4-FFF2-40B4-BE49-F238E27FC236}">
                <a16:creationId xmlns:a16="http://schemas.microsoft.com/office/drawing/2014/main" id="{CCA65BD5-128A-A160-5B6E-6F47718F6393}"/>
              </a:ext>
            </a:extLst>
          </p:cNvPr>
          <p:cNvSpPr>
            <a:spLocks noGrp="1"/>
          </p:cNvSpPr>
          <p:nvPr>
            <p:ph type="ftr" sz="quarter" idx="11"/>
          </p:nvPr>
        </p:nvSpPr>
        <p:spPr/>
        <p:txBody>
          <a:bodyPr/>
          <a:lstStyle/>
          <a:p>
            <a:r>
              <a:rPr lang="en-US"/>
              <a:t>Power BI | Ecommerce Analytics | Bharath Gowda J M</a:t>
            </a:r>
            <a:endParaRPr lang="en-IN"/>
          </a:p>
        </p:txBody>
      </p:sp>
      <p:sp>
        <p:nvSpPr>
          <p:cNvPr id="9" name="Slide Number Placeholder 8">
            <a:extLst>
              <a:ext uri="{FF2B5EF4-FFF2-40B4-BE49-F238E27FC236}">
                <a16:creationId xmlns:a16="http://schemas.microsoft.com/office/drawing/2014/main" id="{F0566C7E-5DC3-AE9F-5FC9-D2FAC2026194}"/>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2816956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11F3E-FF0A-0CD9-2FB7-4C4E3E2AE97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F7FE810-44DF-3BA9-D8C1-E28693963E9F}"/>
              </a:ext>
            </a:extLst>
          </p:cNvPr>
          <p:cNvSpPr>
            <a:spLocks noGrp="1"/>
          </p:cNvSpPr>
          <p:nvPr>
            <p:ph type="dt" sz="half" idx="10"/>
          </p:nvPr>
        </p:nvSpPr>
        <p:spPr/>
        <p:txBody>
          <a:bodyPr/>
          <a:lstStyle/>
          <a:p>
            <a:fld id="{185CBC17-18E6-47F3-B95B-1A893687BD6E}" type="datetime1">
              <a:rPr lang="en-IN" smtClean="0"/>
              <a:t>08-06-2026</a:t>
            </a:fld>
            <a:endParaRPr lang="en-IN"/>
          </a:p>
        </p:txBody>
      </p:sp>
      <p:sp>
        <p:nvSpPr>
          <p:cNvPr id="4" name="Footer Placeholder 3">
            <a:extLst>
              <a:ext uri="{FF2B5EF4-FFF2-40B4-BE49-F238E27FC236}">
                <a16:creationId xmlns:a16="http://schemas.microsoft.com/office/drawing/2014/main" id="{22A8F11E-0FEA-AAFD-B149-2298E210AD2A}"/>
              </a:ext>
            </a:extLst>
          </p:cNvPr>
          <p:cNvSpPr>
            <a:spLocks noGrp="1"/>
          </p:cNvSpPr>
          <p:nvPr>
            <p:ph type="ftr" sz="quarter" idx="11"/>
          </p:nvPr>
        </p:nvSpPr>
        <p:spPr/>
        <p:txBody>
          <a:bodyPr/>
          <a:lstStyle/>
          <a:p>
            <a:r>
              <a:rPr lang="en-US"/>
              <a:t>Power BI | Ecommerce Analytics | Bharath Gowda J M</a:t>
            </a:r>
            <a:endParaRPr lang="en-IN"/>
          </a:p>
        </p:txBody>
      </p:sp>
      <p:sp>
        <p:nvSpPr>
          <p:cNvPr id="5" name="Slide Number Placeholder 4">
            <a:extLst>
              <a:ext uri="{FF2B5EF4-FFF2-40B4-BE49-F238E27FC236}">
                <a16:creationId xmlns:a16="http://schemas.microsoft.com/office/drawing/2014/main" id="{F2C6FFD3-B521-54CC-F182-52708F95E0A4}"/>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41607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2C5B4A-8726-484D-42BC-99D0096F81E7}"/>
              </a:ext>
            </a:extLst>
          </p:cNvPr>
          <p:cNvSpPr>
            <a:spLocks noGrp="1"/>
          </p:cNvSpPr>
          <p:nvPr>
            <p:ph type="dt" sz="half" idx="10"/>
          </p:nvPr>
        </p:nvSpPr>
        <p:spPr/>
        <p:txBody>
          <a:bodyPr/>
          <a:lstStyle/>
          <a:p>
            <a:fld id="{56B6810E-D4A1-480E-AB8C-727924B5AA85}" type="datetime1">
              <a:rPr lang="en-IN" smtClean="0"/>
              <a:t>08-06-2026</a:t>
            </a:fld>
            <a:endParaRPr lang="en-IN"/>
          </a:p>
        </p:txBody>
      </p:sp>
      <p:sp>
        <p:nvSpPr>
          <p:cNvPr id="3" name="Footer Placeholder 2">
            <a:extLst>
              <a:ext uri="{FF2B5EF4-FFF2-40B4-BE49-F238E27FC236}">
                <a16:creationId xmlns:a16="http://schemas.microsoft.com/office/drawing/2014/main" id="{504BCB50-9C85-42F6-9AC8-A48191FCCA4E}"/>
              </a:ext>
            </a:extLst>
          </p:cNvPr>
          <p:cNvSpPr>
            <a:spLocks noGrp="1"/>
          </p:cNvSpPr>
          <p:nvPr>
            <p:ph type="ftr" sz="quarter" idx="11"/>
          </p:nvPr>
        </p:nvSpPr>
        <p:spPr/>
        <p:txBody>
          <a:bodyPr/>
          <a:lstStyle/>
          <a:p>
            <a:r>
              <a:rPr lang="en-US"/>
              <a:t>Power BI | Ecommerce Analytics | Bharath Gowda J M</a:t>
            </a:r>
            <a:endParaRPr lang="en-IN"/>
          </a:p>
        </p:txBody>
      </p:sp>
      <p:sp>
        <p:nvSpPr>
          <p:cNvPr id="4" name="Slide Number Placeholder 3">
            <a:extLst>
              <a:ext uri="{FF2B5EF4-FFF2-40B4-BE49-F238E27FC236}">
                <a16:creationId xmlns:a16="http://schemas.microsoft.com/office/drawing/2014/main" id="{4C9702CB-305D-748D-DC15-61D37E45424E}"/>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726259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AC35D-CBE7-C3B3-3AC2-46B6F88DBE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489E0FC-F7BE-E8FD-684E-A8B06673B8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2801BFF-4C65-C5ED-8836-758C7B029B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4FE132-BEF9-452A-3CD3-FB5B863D7378}"/>
              </a:ext>
            </a:extLst>
          </p:cNvPr>
          <p:cNvSpPr>
            <a:spLocks noGrp="1"/>
          </p:cNvSpPr>
          <p:nvPr>
            <p:ph type="dt" sz="half" idx="10"/>
          </p:nvPr>
        </p:nvSpPr>
        <p:spPr/>
        <p:txBody>
          <a:bodyPr/>
          <a:lstStyle/>
          <a:p>
            <a:fld id="{F752784E-2D47-4921-AEBC-F423E7982278}" type="datetime1">
              <a:rPr lang="en-IN" smtClean="0"/>
              <a:t>08-06-2026</a:t>
            </a:fld>
            <a:endParaRPr lang="en-IN"/>
          </a:p>
        </p:txBody>
      </p:sp>
      <p:sp>
        <p:nvSpPr>
          <p:cNvPr id="6" name="Footer Placeholder 5">
            <a:extLst>
              <a:ext uri="{FF2B5EF4-FFF2-40B4-BE49-F238E27FC236}">
                <a16:creationId xmlns:a16="http://schemas.microsoft.com/office/drawing/2014/main" id="{64E67912-213E-3390-2925-8D4EBA5C5DC5}"/>
              </a:ext>
            </a:extLst>
          </p:cNvPr>
          <p:cNvSpPr>
            <a:spLocks noGrp="1"/>
          </p:cNvSpPr>
          <p:nvPr>
            <p:ph type="ftr" sz="quarter" idx="11"/>
          </p:nvPr>
        </p:nvSpPr>
        <p:spPr/>
        <p:txBody>
          <a:bodyPr/>
          <a:lstStyle/>
          <a:p>
            <a:r>
              <a:rPr lang="en-US"/>
              <a:t>Power BI | Ecommerce Analytics | Bharath Gowda J M</a:t>
            </a:r>
            <a:endParaRPr lang="en-IN"/>
          </a:p>
        </p:txBody>
      </p:sp>
      <p:sp>
        <p:nvSpPr>
          <p:cNvPr id="7" name="Slide Number Placeholder 6">
            <a:extLst>
              <a:ext uri="{FF2B5EF4-FFF2-40B4-BE49-F238E27FC236}">
                <a16:creationId xmlns:a16="http://schemas.microsoft.com/office/drawing/2014/main" id="{01EEF81E-FFB6-BDAB-5279-49265B38624A}"/>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10027470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8EF33-88B0-22E4-3526-A0F6DC561A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31C8268-8DA7-B0FB-B371-980A1EFAF2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8757AC1-6A81-06F8-0857-FD869F1F07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089DE6-8EB8-B771-9577-5D2F32A0B026}"/>
              </a:ext>
            </a:extLst>
          </p:cNvPr>
          <p:cNvSpPr>
            <a:spLocks noGrp="1"/>
          </p:cNvSpPr>
          <p:nvPr>
            <p:ph type="dt" sz="half" idx="10"/>
          </p:nvPr>
        </p:nvSpPr>
        <p:spPr/>
        <p:txBody>
          <a:bodyPr/>
          <a:lstStyle/>
          <a:p>
            <a:fld id="{A8BEB77B-F7CB-4955-83D9-017AA1898294}" type="datetime1">
              <a:rPr lang="en-IN" smtClean="0"/>
              <a:t>08-06-2026</a:t>
            </a:fld>
            <a:endParaRPr lang="en-IN"/>
          </a:p>
        </p:txBody>
      </p:sp>
      <p:sp>
        <p:nvSpPr>
          <p:cNvPr id="6" name="Footer Placeholder 5">
            <a:extLst>
              <a:ext uri="{FF2B5EF4-FFF2-40B4-BE49-F238E27FC236}">
                <a16:creationId xmlns:a16="http://schemas.microsoft.com/office/drawing/2014/main" id="{501738B0-A817-57D6-0930-42ABCE1B5B10}"/>
              </a:ext>
            </a:extLst>
          </p:cNvPr>
          <p:cNvSpPr>
            <a:spLocks noGrp="1"/>
          </p:cNvSpPr>
          <p:nvPr>
            <p:ph type="ftr" sz="quarter" idx="11"/>
          </p:nvPr>
        </p:nvSpPr>
        <p:spPr/>
        <p:txBody>
          <a:bodyPr/>
          <a:lstStyle/>
          <a:p>
            <a:r>
              <a:rPr lang="en-US"/>
              <a:t>Power BI | Ecommerce Analytics | Bharath Gowda J M</a:t>
            </a:r>
            <a:endParaRPr lang="en-IN"/>
          </a:p>
        </p:txBody>
      </p:sp>
      <p:sp>
        <p:nvSpPr>
          <p:cNvPr id="7" name="Slide Number Placeholder 6">
            <a:extLst>
              <a:ext uri="{FF2B5EF4-FFF2-40B4-BE49-F238E27FC236}">
                <a16:creationId xmlns:a16="http://schemas.microsoft.com/office/drawing/2014/main" id="{F86466B8-C7E0-9670-28F9-2570F68F56E3}"/>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2365290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B755E-150C-16AE-4468-032CDE5A0C0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422883-5AD4-A160-DD58-D083EDA369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C94A1E-3E7E-DBF2-C04B-6557037D8D15}"/>
              </a:ext>
            </a:extLst>
          </p:cNvPr>
          <p:cNvSpPr>
            <a:spLocks noGrp="1"/>
          </p:cNvSpPr>
          <p:nvPr>
            <p:ph type="dt" sz="half" idx="10"/>
          </p:nvPr>
        </p:nvSpPr>
        <p:spPr/>
        <p:txBody>
          <a:bodyPr/>
          <a:lstStyle/>
          <a:p>
            <a:fld id="{43F653D2-2471-4335-AE1F-962E221B749D}" type="datetime1">
              <a:rPr lang="en-IN" smtClean="0"/>
              <a:t>08-06-2026</a:t>
            </a:fld>
            <a:endParaRPr lang="en-IN"/>
          </a:p>
        </p:txBody>
      </p:sp>
      <p:sp>
        <p:nvSpPr>
          <p:cNvPr id="5" name="Footer Placeholder 4">
            <a:extLst>
              <a:ext uri="{FF2B5EF4-FFF2-40B4-BE49-F238E27FC236}">
                <a16:creationId xmlns:a16="http://schemas.microsoft.com/office/drawing/2014/main" id="{2FC45893-4EBF-2868-5457-38E0AB26C2EC}"/>
              </a:ext>
            </a:extLst>
          </p:cNvPr>
          <p:cNvSpPr>
            <a:spLocks noGrp="1"/>
          </p:cNvSpPr>
          <p:nvPr>
            <p:ph type="ftr" sz="quarter" idx="11"/>
          </p:nvPr>
        </p:nvSpPr>
        <p:spPr/>
        <p:txBody>
          <a:bodyPr/>
          <a:lstStyle/>
          <a:p>
            <a:r>
              <a:rPr lang="en-US"/>
              <a:t>Power BI | Ecommerce Analytics | Bharath Gowda J M</a:t>
            </a:r>
            <a:endParaRPr lang="en-IN"/>
          </a:p>
        </p:txBody>
      </p:sp>
      <p:sp>
        <p:nvSpPr>
          <p:cNvPr id="6" name="Slide Number Placeholder 5">
            <a:extLst>
              <a:ext uri="{FF2B5EF4-FFF2-40B4-BE49-F238E27FC236}">
                <a16:creationId xmlns:a16="http://schemas.microsoft.com/office/drawing/2014/main" id="{FDAF5AA3-1661-5284-D744-56F5424B720A}"/>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175241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42FB06-583C-9056-39C7-D207ACE2C3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269DC0-74DC-CCB6-87A8-7CD0345DD0B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6FF9C7-D814-88B9-7CD1-8E631DCDCABB}"/>
              </a:ext>
            </a:extLst>
          </p:cNvPr>
          <p:cNvSpPr>
            <a:spLocks noGrp="1"/>
          </p:cNvSpPr>
          <p:nvPr>
            <p:ph type="dt" sz="half" idx="10"/>
          </p:nvPr>
        </p:nvSpPr>
        <p:spPr/>
        <p:txBody>
          <a:bodyPr/>
          <a:lstStyle/>
          <a:p>
            <a:fld id="{0CFCAB51-AE56-4347-9005-E8EC6C867FF3}" type="datetime1">
              <a:rPr lang="en-IN" smtClean="0"/>
              <a:t>08-06-2026</a:t>
            </a:fld>
            <a:endParaRPr lang="en-IN"/>
          </a:p>
        </p:txBody>
      </p:sp>
      <p:sp>
        <p:nvSpPr>
          <p:cNvPr id="5" name="Footer Placeholder 4">
            <a:extLst>
              <a:ext uri="{FF2B5EF4-FFF2-40B4-BE49-F238E27FC236}">
                <a16:creationId xmlns:a16="http://schemas.microsoft.com/office/drawing/2014/main" id="{2B25B9E8-6D40-9A64-C3E9-9033CB512219}"/>
              </a:ext>
            </a:extLst>
          </p:cNvPr>
          <p:cNvSpPr>
            <a:spLocks noGrp="1"/>
          </p:cNvSpPr>
          <p:nvPr>
            <p:ph type="ftr" sz="quarter" idx="11"/>
          </p:nvPr>
        </p:nvSpPr>
        <p:spPr/>
        <p:txBody>
          <a:bodyPr/>
          <a:lstStyle/>
          <a:p>
            <a:r>
              <a:rPr lang="en-US"/>
              <a:t>Power BI | Ecommerce Analytics | Bharath Gowda J M</a:t>
            </a:r>
            <a:endParaRPr lang="en-IN"/>
          </a:p>
        </p:txBody>
      </p:sp>
      <p:sp>
        <p:nvSpPr>
          <p:cNvPr id="6" name="Slide Number Placeholder 5">
            <a:extLst>
              <a:ext uri="{FF2B5EF4-FFF2-40B4-BE49-F238E27FC236}">
                <a16:creationId xmlns:a16="http://schemas.microsoft.com/office/drawing/2014/main" id="{F8A1DE25-EBF2-31E6-FF0D-8C5529A96D4B}"/>
              </a:ext>
            </a:extLst>
          </p:cNvPr>
          <p:cNvSpPr>
            <a:spLocks noGrp="1"/>
          </p:cNvSpPr>
          <p:nvPr>
            <p:ph type="sldNum" sz="quarter" idx="12"/>
          </p:nvPr>
        </p:nvSpPr>
        <p:spPr/>
        <p:txBody>
          <a:bodyPr/>
          <a:lstStyle/>
          <a:p>
            <a:fld id="{B11AAD64-963B-4443-BB1E-6E2630F94F3C}" type="slidenum">
              <a:rPr lang="en-IN" smtClean="0"/>
              <a:t>‹#›</a:t>
            </a:fld>
            <a:endParaRPr lang="en-IN"/>
          </a:p>
        </p:txBody>
      </p:sp>
    </p:spTree>
    <p:extLst>
      <p:ext uri="{BB962C8B-B14F-4D97-AF65-F5344CB8AC3E}">
        <p14:creationId xmlns:p14="http://schemas.microsoft.com/office/powerpoint/2010/main" val="118955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6111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4D52B-3059-C028-C987-40E0276C2D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A006EF3-68C2-079B-7B66-E482335E03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24FCAF-8F70-18D7-6FC9-CC74039B87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F51AF5-DE25-46BE-8436-85BD7FFA0DC6}" type="datetime1">
              <a:rPr lang="en-IN" smtClean="0"/>
              <a:t>08-06-2026</a:t>
            </a:fld>
            <a:endParaRPr lang="en-IN"/>
          </a:p>
        </p:txBody>
      </p:sp>
      <p:sp>
        <p:nvSpPr>
          <p:cNvPr id="5" name="Footer Placeholder 4">
            <a:extLst>
              <a:ext uri="{FF2B5EF4-FFF2-40B4-BE49-F238E27FC236}">
                <a16:creationId xmlns:a16="http://schemas.microsoft.com/office/drawing/2014/main" id="{A42584D8-0280-3F38-2158-D96F613A24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Power BI | Ecommerce Analytics | Bharath Gowda J M</a:t>
            </a:r>
            <a:endParaRPr lang="en-IN"/>
          </a:p>
        </p:txBody>
      </p:sp>
      <p:sp>
        <p:nvSpPr>
          <p:cNvPr id="6" name="Slide Number Placeholder 5">
            <a:extLst>
              <a:ext uri="{FF2B5EF4-FFF2-40B4-BE49-F238E27FC236}">
                <a16:creationId xmlns:a16="http://schemas.microsoft.com/office/drawing/2014/main" id="{398537CD-7979-9201-4348-DF16A78F5FB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1AAD64-963B-4443-BB1E-6E2630F94F3C}" type="slidenum">
              <a:rPr lang="en-IN" smtClean="0"/>
              <a:t>‹#›</a:t>
            </a:fld>
            <a:endParaRPr lang="en-IN"/>
          </a:p>
        </p:txBody>
      </p:sp>
    </p:spTree>
    <p:extLst>
      <p:ext uri="{BB962C8B-B14F-4D97-AF65-F5344CB8AC3E}">
        <p14:creationId xmlns:p14="http://schemas.microsoft.com/office/powerpoint/2010/main" val="9346758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blog.keliweb.it/2024/04/come-ottimizzare-il-carrello-di-un-e-commerce/"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a:stretch>
        </a:blipFill>
        <a:effectLst/>
      </p:bgPr>
    </p:bg>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4BD322F5-FA1C-18AF-FEB8-360C460421A0}"/>
              </a:ext>
            </a:extLst>
          </p:cNvPr>
          <p:cNvSpPr>
            <a:spLocks noGrp="1"/>
          </p:cNvSpPr>
          <p:nvPr>
            <p:ph type="ctrTitle"/>
          </p:nvPr>
        </p:nvSpPr>
        <p:spPr>
          <a:xfrm>
            <a:off x="213359" y="136525"/>
            <a:ext cx="8752533" cy="594996"/>
          </a:xfrm>
        </p:spPr>
        <p:txBody>
          <a:bodyPr>
            <a:normAutofit/>
          </a:bodyPr>
          <a:lstStyle/>
          <a:p>
            <a:r>
              <a:rPr lang="en-IN" sz="3600" b="1" dirty="0">
                <a:solidFill>
                  <a:srgbClr val="06111F"/>
                </a:solidFill>
                <a:latin typeface="Segoe UI Semibold" panose="020B0702040204020203" pitchFamily="34" charset="0"/>
                <a:cs typeface="Segoe UI Semibold" panose="020B0702040204020203" pitchFamily="34" charset="0"/>
              </a:rPr>
              <a:t>Olist E-commerce Analytics Dashboard</a:t>
            </a:r>
          </a:p>
        </p:txBody>
      </p:sp>
      <p:sp>
        <p:nvSpPr>
          <p:cNvPr id="10" name="TextBox 9">
            <a:extLst>
              <a:ext uri="{FF2B5EF4-FFF2-40B4-BE49-F238E27FC236}">
                <a16:creationId xmlns:a16="http://schemas.microsoft.com/office/drawing/2014/main" id="{725A45B0-6AD6-F459-74CE-42BAD52C851D}"/>
              </a:ext>
            </a:extLst>
          </p:cNvPr>
          <p:cNvSpPr txBox="1"/>
          <p:nvPr/>
        </p:nvSpPr>
        <p:spPr>
          <a:xfrm>
            <a:off x="7695893" y="5521829"/>
            <a:ext cx="2703360" cy="369332"/>
          </a:xfrm>
          <a:prstGeom prst="rect">
            <a:avLst/>
          </a:prstGeom>
          <a:noFill/>
        </p:spPr>
        <p:txBody>
          <a:bodyPr wrap="square" rtlCol="0">
            <a:spAutoFit/>
          </a:bodyPr>
          <a:lstStyle/>
          <a:p>
            <a:r>
              <a:rPr lang="en-IN" dirty="0">
                <a:solidFill>
                  <a:schemeClr val="accent1">
                    <a:lumMod val="20000"/>
                    <a:lumOff val="80000"/>
                  </a:schemeClr>
                </a:solidFill>
                <a:latin typeface="Segoe UI Semibold" panose="020B0702040204020203" pitchFamily="34" charset="0"/>
                <a:cs typeface="Segoe UI Semibold" panose="020B0702040204020203" pitchFamily="34" charset="0"/>
              </a:rPr>
              <a:t>Bharath Gowda J M</a:t>
            </a:r>
          </a:p>
        </p:txBody>
      </p:sp>
      <p:sp>
        <p:nvSpPr>
          <p:cNvPr id="13" name="Footer Placeholder 12">
            <a:extLst>
              <a:ext uri="{FF2B5EF4-FFF2-40B4-BE49-F238E27FC236}">
                <a16:creationId xmlns:a16="http://schemas.microsoft.com/office/drawing/2014/main" id="{79DB4F5D-3DE1-C81E-A2D9-51974A55B303}"/>
              </a:ext>
            </a:extLst>
          </p:cNvPr>
          <p:cNvSpPr>
            <a:spLocks noGrp="1"/>
          </p:cNvSpPr>
          <p:nvPr>
            <p:ph type="ftr" sz="quarter" idx="11"/>
          </p:nvPr>
        </p:nvSpPr>
        <p:spPr/>
        <p:txBody>
          <a:bodyPr/>
          <a:lstStyle/>
          <a:p>
            <a:r>
              <a:rPr lang="en-US" dirty="0">
                <a:solidFill>
                  <a:srgbClr val="CBD5E1"/>
                </a:solidFill>
              </a:rPr>
              <a:t>Power BI | Ecommerce Analytics | Bharath Gowda J M</a:t>
            </a:r>
            <a:endParaRPr lang="en-IN" dirty="0">
              <a:solidFill>
                <a:srgbClr val="CBD5E1"/>
              </a:solidFill>
            </a:endParaRPr>
          </a:p>
        </p:txBody>
      </p:sp>
    </p:spTree>
    <p:extLst>
      <p:ext uri="{BB962C8B-B14F-4D97-AF65-F5344CB8AC3E}">
        <p14:creationId xmlns:p14="http://schemas.microsoft.com/office/powerpoint/2010/main" val="15556954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6111F"/>
        </a:solidFill>
        <a:effectLst/>
      </p:bgPr>
    </p:bg>
    <p:spTree>
      <p:nvGrpSpPr>
        <p:cNvPr id="1" name="">
          <a:extLst>
            <a:ext uri="{FF2B5EF4-FFF2-40B4-BE49-F238E27FC236}">
              <a16:creationId xmlns:a16="http://schemas.microsoft.com/office/drawing/2014/main" id="{61163C24-DAAB-362E-B9F2-AA8DFB7CF3A1}"/>
            </a:ext>
          </a:extLst>
        </p:cNvPr>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729F8B0B-B00D-5C38-948F-690C13077E9A}"/>
              </a:ext>
            </a:extLst>
          </p:cNvPr>
          <p:cNvSpPr>
            <a:spLocks noGrp="1"/>
          </p:cNvSpPr>
          <p:nvPr>
            <p:ph type="ftr" sz="quarter" idx="11"/>
          </p:nvPr>
        </p:nvSpPr>
        <p:spPr/>
        <p:txBody>
          <a:bodyPr/>
          <a:lstStyle/>
          <a:p>
            <a:r>
              <a:rPr lang="en-US" dirty="0">
                <a:solidFill>
                  <a:srgbClr val="CBD5E1"/>
                </a:solidFill>
              </a:rPr>
              <a:t>Power BI | Ecommerce Analytics | Bharath Gowda J M</a:t>
            </a:r>
            <a:endParaRPr lang="en-IN" dirty="0">
              <a:solidFill>
                <a:srgbClr val="CBD5E1"/>
              </a:solidFill>
            </a:endParaRPr>
          </a:p>
        </p:txBody>
      </p:sp>
      <p:pic>
        <p:nvPicPr>
          <p:cNvPr id="7" name="Picture 6">
            <a:extLst>
              <a:ext uri="{FF2B5EF4-FFF2-40B4-BE49-F238E27FC236}">
                <a16:creationId xmlns:a16="http://schemas.microsoft.com/office/drawing/2014/main" id="{58568B80-2E81-9581-0F12-6B80F7C269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36" y="1118508"/>
            <a:ext cx="7116610" cy="4554705"/>
          </a:xfrm>
          <a:prstGeom prst="rect">
            <a:avLst/>
          </a:prstGeom>
        </p:spPr>
      </p:pic>
      <p:sp>
        <p:nvSpPr>
          <p:cNvPr id="11" name="TextBox 10">
            <a:extLst>
              <a:ext uri="{FF2B5EF4-FFF2-40B4-BE49-F238E27FC236}">
                <a16:creationId xmlns:a16="http://schemas.microsoft.com/office/drawing/2014/main" id="{145AF1A7-10A1-AB2E-E50E-F7C28D35D7D3}"/>
              </a:ext>
            </a:extLst>
          </p:cNvPr>
          <p:cNvSpPr txBox="1"/>
          <p:nvPr/>
        </p:nvSpPr>
        <p:spPr>
          <a:xfrm>
            <a:off x="7416800" y="703350"/>
            <a:ext cx="4307840" cy="5909310"/>
          </a:xfrm>
          <a:prstGeom prst="rect">
            <a:avLst/>
          </a:prstGeom>
          <a:noFill/>
        </p:spPr>
        <p:txBody>
          <a:bodyPr wrap="square" rtlCol="0">
            <a:spAutoFit/>
          </a:bodyPr>
          <a:lstStyle/>
          <a:p>
            <a:r>
              <a:rPr lang="en-IN" b="1" dirty="0">
                <a:solidFill>
                  <a:schemeClr val="bg1"/>
                </a:solidFill>
                <a:latin typeface="Segoe UI Semibold" panose="020B0702040204020203" pitchFamily="34" charset="0"/>
                <a:cs typeface="Segoe UI Semibold" panose="020B0702040204020203" pitchFamily="34" charset="0"/>
              </a:rPr>
              <a:t>Why Star Schema?</a:t>
            </a:r>
          </a:p>
          <a:p>
            <a:pPr marL="285750" indent="-285750">
              <a:buFont typeface="Wingdings" panose="05000000000000000000" pitchFamily="2" charset="2"/>
              <a:buChar char="Ø"/>
            </a:pPr>
            <a:r>
              <a:rPr lang="en-IN" b="1" dirty="0">
                <a:solidFill>
                  <a:schemeClr val="bg1"/>
                </a:solidFill>
                <a:latin typeface="Segoe UI Semibold" panose="020B0702040204020203" pitchFamily="34" charset="0"/>
                <a:cs typeface="Segoe UI Semibold" panose="020B0702040204020203" pitchFamily="34" charset="0"/>
              </a:rPr>
              <a:t>Better Performance</a:t>
            </a:r>
          </a:p>
          <a:p>
            <a:pPr marL="285750" indent="-285750">
              <a:buFont typeface="Wingdings" panose="05000000000000000000" pitchFamily="2" charset="2"/>
              <a:buChar char="Ø"/>
            </a:pPr>
            <a:r>
              <a:rPr lang="en-IN" b="1" dirty="0">
                <a:solidFill>
                  <a:schemeClr val="bg1"/>
                </a:solidFill>
                <a:latin typeface="Segoe UI Semibold" panose="020B0702040204020203" pitchFamily="34" charset="0"/>
                <a:cs typeface="Segoe UI Semibold" panose="020B0702040204020203" pitchFamily="34" charset="0"/>
              </a:rPr>
              <a:t>Easier DAX Calculations</a:t>
            </a:r>
          </a:p>
          <a:p>
            <a:pPr marL="285750" indent="-285750">
              <a:buFont typeface="Wingdings" panose="05000000000000000000" pitchFamily="2" charset="2"/>
              <a:buChar char="Ø"/>
            </a:pPr>
            <a:r>
              <a:rPr lang="en-IN" b="1" dirty="0">
                <a:solidFill>
                  <a:schemeClr val="bg1"/>
                </a:solidFill>
                <a:latin typeface="Segoe UI Semibold" panose="020B0702040204020203" pitchFamily="34" charset="0"/>
                <a:cs typeface="Segoe UI Semibold" panose="020B0702040204020203" pitchFamily="34" charset="0"/>
              </a:rPr>
              <a:t>Faster Reporting</a:t>
            </a:r>
          </a:p>
          <a:p>
            <a:pPr marL="285750" indent="-285750">
              <a:buFont typeface="Wingdings" panose="05000000000000000000" pitchFamily="2" charset="2"/>
              <a:buChar char="Ø"/>
            </a:pPr>
            <a:r>
              <a:rPr lang="en-IN" b="1" dirty="0">
                <a:solidFill>
                  <a:schemeClr val="bg1"/>
                </a:solidFill>
                <a:latin typeface="Segoe UI Semibold" panose="020B0702040204020203" pitchFamily="34" charset="0"/>
                <a:cs typeface="Segoe UI Semibold" panose="020B0702040204020203" pitchFamily="34" charset="0"/>
              </a:rPr>
              <a:t>Scalable Analytics</a:t>
            </a:r>
          </a:p>
          <a:p>
            <a:pPr marL="285750" indent="-285750">
              <a:buFont typeface="Arial" panose="020B0604020202020204" pitchFamily="34" charset="0"/>
              <a:buChar char="•"/>
            </a:pPr>
            <a:r>
              <a:rPr lang="en-IN" dirty="0">
                <a:solidFill>
                  <a:schemeClr val="bg1"/>
                </a:solidFill>
                <a:latin typeface="Segoe UI Semibold" panose="020B0702040204020203" pitchFamily="34" charset="0"/>
                <a:cs typeface="Segoe UI Semibold" panose="020B0702040204020203" pitchFamily="34" charset="0"/>
              </a:rPr>
              <a:t>Implemented a Star Schema model to improve dashboard performance and analytical flexibility.</a:t>
            </a:r>
          </a:p>
          <a:p>
            <a:pPr marL="285750" indent="-285750">
              <a:buFont typeface="Arial" panose="020B0604020202020204" pitchFamily="34" charset="0"/>
              <a:buChar char="•"/>
            </a:pPr>
            <a:endParaRPr lang="en-IN" b="1"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IN" b="1" dirty="0">
                <a:solidFill>
                  <a:schemeClr val="bg1"/>
                </a:solidFill>
                <a:latin typeface="Segoe UI Semibold" panose="020B0702040204020203" pitchFamily="34" charset="0"/>
                <a:cs typeface="Segoe UI Semibold" panose="020B0702040204020203" pitchFamily="34" charset="0"/>
              </a:rPr>
              <a:t>Fact Tables</a:t>
            </a:r>
          </a:p>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Orders </a:t>
            </a:r>
          </a:p>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Order Items </a:t>
            </a:r>
          </a:p>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Payments </a:t>
            </a:r>
          </a:p>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Reviews </a:t>
            </a:r>
          </a:p>
          <a:p>
            <a:endParaRPr lang="en-IN"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IN" b="1" dirty="0">
                <a:solidFill>
                  <a:schemeClr val="bg1"/>
                </a:solidFill>
                <a:latin typeface="Segoe UI Semibold" panose="020B0702040204020203" pitchFamily="34" charset="0"/>
                <a:cs typeface="Segoe UI Semibold" panose="020B0702040204020203" pitchFamily="34" charset="0"/>
              </a:rPr>
              <a:t>Dimension Tables</a:t>
            </a:r>
          </a:p>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Customers </a:t>
            </a:r>
          </a:p>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Products </a:t>
            </a:r>
          </a:p>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Sellers </a:t>
            </a:r>
          </a:p>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Date</a:t>
            </a:r>
            <a:endParaRPr lang="en-IN" b="1" dirty="0">
              <a:solidFill>
                <a:schemeClr val="bg1"/>
              </a:solidFill>
              <a:latin typeface="Segoe UI Semibold" panose="020B0702040204020203" pitchFamily="34" charset="0"/>
              <a:cs typeface="Segoe UI Semibold" panose="020B0702040204020203" pitchFamily="34" charset="0"/>
            </a:endParaRPr>
          </a:p>
          <a:p>
            <a:endParaRPr lang="en-IN" dirty="0"/>
          </a:p>
        </p:txBody>
      </p:sp>
      <p:sp>
        <p:nvSpPr>
          <p:cNvPr id="14" name="TextBox 13">
            <a:extLst>
              <a:ext uri="{FF2B5EF4-FFF2-40B4-BE49-F238E27FC236}">
                <a16:creationId xmlns:a16="http://schemas.microsoft.com/office/drawing/2014/main" id="{40BAE971-E80B-1062-879C-7A8DAC9B21BF}"/>
              </a:ext>
            </a:extLst>
          </p:cNvPr>
          <p:cNvSpPr txBox="1"/>
          <p:nvPr/>
        </p:nvSpPr>
        <p:spPr>
          <a:xfrm>
            <a:off x="0" y="241685"/>
            <a:ext cx="5225847" cy="461665"/>
          </a:xfrm>
          <a:prstGeom prst="rect">
            <a:avLst/>
          </a:prstGeom>
          <a:noFill/>
        </p:spPr>
        <p:txBody>
          <a:bodyPr wrap="square" rtlCol="0">
            <a:spAutoFit/>
          </a:bodyPr>
          <a:lstStyle/>
          <a:p>
            <a:r>
              <a:rPr lang="en-IN" sz="2400" b="1" dirty="0">
                <a:solidFill>
                  <a:schemeClr val="bg1"/>
                </a:solidFill>
                <a:latin typeface="Segoe UI Semibold" panose="020B0702040204020203" pitchFamily="34" charset="0"/>
                <a:cs typeface="Segoe UI Semibold" panose="020B0702040204020203" pitchFamily="34" charset="0"/>
              </a:rPr>
              <a:t>Data Model Architecture</a:t>
            </a:r>
          </a:p>
        </p:txBody>
      </p:sp>
      <p:cxnSp>
        <p:nvCxnSpPr>
          <p:cNvPr id="16" name="Straight Connector 15">
            <a:extLst>
              <a:ext uri="{FF2B5EF4-FFF2-40B4-BE49-F238E27FC236}">
                <a16:creationId xmlns:a16="http://schemas.microsoft.com/office/drawing/2014/main" id="{CA3ECFBE-EA27-9DEF-56D8-CBA53A9F80BE}"/>
              </a:ext>
            </a:extLst>
          </p:cNvPr>
          <p:cNvCxnSpPr>
            <a:cxnSpLocks/>
          </p:cNvCxnSpPr>
          <p:nvPr/>
        </p:nvCxnSpPr>
        <p:spPr>
          <a:xfrm>
            <a:off x="90436" y="703350"/>
            <a:ext cx="3341022" cy="0"/>
          </a:xfrm>
          <a:prstGeom prst="line">
            <a:avLst/>
          </a:prstGeom>
          <a:ln w="28575">
            <a:solidFill>
              <a:srgbClr val="14B8A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53053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6111F"/>
        </a:solidFill>
        <a:effectLst/>
      </p:bgPr>
    </p:bg>
    <p:spTree>
      <p:nvGrpSpPr>
        <p:cNvPr id="1" name="">
          <a:extLst>
            <a:ext uri="{FF2B5EF4-FFF2-40B4-BE49-F238E27FC236}">
              <a16:creationId xmlns:a16="http://schemas.microsoft.com/office/drawing/2014/main" id="{E7B8C40F-8919-A9DC-866A-99C500DF6E78}"/>
            </a:ext>
          </a:extLst>
        </p:cNvPr>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A6CEEF70-909C-58BF-88F3-A9249EB335BD}"/>
              </a:ext>
            </a:extLst>
          </p:cNvPr>
          <p:cNvSpPr>
            <a:spLocks noGrp="1"/>
          </p:cNvSpPr>
          <p:nvPr>
            <p:ph type="ftr" sz="quarter" idx="11"/>
          </p:nvPr>
        </p:nvSpPr>
        <p:spPr/>
        <p:txBody>
          <a:bodyPr/>
          <a:lstStyle/>
          <a:p>
            <a:r>
              <a:rPr lang="en-US" dirty="0">
                <a:solidFill>
                  <a:srgbClr val="CBD5E1"/>
                </a:solidFill>
              </a:rPr>
              <a:t>Power BI | Ecommerce Analytics | Bharath Gowda J M</a:t>
            </a:r>
            <a:endParaRPr lang="en-IN" dirty="0">
              <a:solidFill>
                <a:srgbClr val="CBD5E1"/>
              </a:solidFill>
            </a:endParaRPr>
          </a:p>
        </p:txBody>
      </p:sp>
      <p:sp>
        <p:nvSpPr>
          <p:cNvPr id="11" name="TextBox 10">
            <a:extLst>
              <a:ext uri="{FF2B5EF4-FFF2-40B4-BE49-F238E27FC236}">
                <a16:creationId xmlns:a16="http://schemas.microsoft.com/office/drawing/2014/main" id="{EB8096DE-D278-03E8-A53D-DBBDA10FB77B}"/>
              </a:ext>
            </a:extLst>
          </p:cNvPr>
          <p:cNvSpPr txBox="1"/>
          <p:nvPr/>
        </p:nvSpPr>
        <p:spPr>
          <a:xfrm>
            <a:off x="6274289" y="703350"/>
            <a:ext cx="5917711" cy="5078313"/>
          </a:xfrm>
          <a:prstGeom prst="rect">
            <a:avLst/>
          </a:prstGeom>
          <a:noFill/>
        </p:spPr>
        <p:txBody>
          <a:bodyPr wrap="square" rtlCol="0">
            <a:spAutoFit/>
          </a:bodyPr>
          <a:lstStyle/>
          <a:p>
            <a:endParaRPr lang="en-IN" b="1"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IN" dirty="0">
                <a:solidFill>
                  <a:schemeClr val="bg1"/>
                </a:solidFill>
                <a:latin typeface="Segoe UI Semibold" panose="020B0702040204020203" pitchFamily="34" charset="0"/>
                <a:cs typeface="Segoe UI Semibold" panose="020B0702040204020203" pitchFamily="34" charset="0"/>
              </a:rPr>
              <a:t>DAX was used to transform raw transactional data into business-focused KPIs</a:t>
            </a:r>
          </a:p>
          <a:p>
            <a:pPr marL="285750" indent="-285750">
              <a:buFont typeface="Arial" panose="020B0604020202020204" pitchFamily="34" charset="0"/>
              <a:buChar char="•"/>
            </a:pPr>
            <a:endParaRPr lang="en-IN"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IN" b="1" dirty="0">
                <a:solidFill>
                  <a:schemeClr val="bg1"/>
                </a:solidFill>
              </a:rPr>
              <a:t>Data Preparation</a:t>
            </a:r>
          </a:p>
          <a:p>
            <a:pPr marL="285750" indent="-285750">
              <a:buFont typeface="Wingdings" panose="05000000000000000000" pitchFamily="2" charset="2"/>
              <a:buChar char="Ø"/>
            </a:pPr>
            <a:r>
              <a:rPr lang="en-IN" dirty="0">
                <a:solidFill>
                  <a:schemeClr val="bg1"/>
                </a:solidFill>
              </a:rPr>
              <a:t>Data Cleaning </a:t>
            </a:r>
          </a:p>
          <a:p>
            <a:pPr marL="285750" indent="-285750">
              <a:buFont typeface="Wingdings" panose="05000000000000000000" pitchFamily="2" charset="2"/>
              <a:buChar char="Ø"/>
            </a:pPr>
            <a:r>
              <a:rPr lang="en-IN" dirty="0">
                <a:solidFill>
                  <a:schemeClr val="bg1"/>
                </a:solidFill>
              </a:rPr>
              <a:t>Null Handling </a:t>
            </a:r>
          </a:p>
          <a:p>
            <a:pPr marL="285750" indent="-285750">
              <a:buFont typeface="Wingdings" panose="05000000000000000000" pitchFamily="2" charset="2"/>
              <a:buChar char="Ø"/>
            </a:pPr>
            <a:r>
              <a:rPr lang="en-IN" dirty="0">
                <a:solidFill>
                  <a:schemeClr val="bg1"/>
                </a:solidFill>
              </a:rPr>
              <a:t>Relationship Creation </a:t>
            </a:r>
          </a:p>
          <a:p>
            <a:pPr marL="285750" indent="-285750">
              <a:buFont typeface="Wingdings" panose="05000000000000000000" pitchFamily="2" charset="2"/>
              <a:buChar char="Ø"/>
            </a:pPr>
            <a:r>
              <a:rPr lang="en-IN" dirty="0">
                <a:solidFill>
                  <a:schemeClr val="bg1"/>
                </a:solidFill>
              </a:rPr>
              <a:t>Date Table Development </a:t>
            </a:r>
          </a:p>
          <a:p>
            <a:endParaRPr lang="en-IN" dirty="0">
              <a:solidFill>
                <a:schemeClr val="bg1"/>
              </a:solidFill>
            </a:endParaRPr>
          </a:p>
          <a:p>
            <a:pPr marL="285750" indent="-285750">
              <a:buFont typeface="Arial" panose="020B0604020202020204" pitchFamily="34" charset="0"/>
              <a:buChar char="•"/>
            </a:pPr>
            <a:r>
              <a:rPr lang="en-IN" b="1" dirty="0">
                <a:solidFill>
                  <a:schemeClr val="bg1"/>
                </a:solidFill>
              </a:rPr>
              <a:t>Delivery Status</a:t>
            </a:r>
          </a:p>
          <a:p>
            <a:pPr marL="285750" indent="-285750">
              <a:buFont typeface="Wingdings" panose="05000000000000000000" pitchFamily="2" charset="2"/>
              <a:buChar char="Ø"/>
            </a:pPr>
            <a:r>
              <a:rPr lang="en-IN" dirty="0">
                <a:solidFill>
                  <a:schemeClr val="bg1"/>
                </a:solidFill>
              </a:rPr>
              <a:t>On Time </a:t>
            </a:r>
          </a:p>
          <a:p>
            <a:pPr marL="285750" indent="-285750">
              <a:buFont typeface="Wingdings" panose="05000000000000000000" pitchFamily="2" charset="2"/>
              <a:buChar char="Ø"/>
            </a:pPr>
            <a:r>
              <a:rPr lang="en-IN" dirty="0">
                <a:solidFill>
                  <a:schemeClr val="bg1"/>
                </a:solidFill>
              </a:rPr>
              <a:t>Late </a:t>
            </a:r>
          </a:p>
          <a:p>
            <a:pPr marL="285750" indent="-285750">
              <a:buFont typeface="Wingdings" panose="05000000000000000000" pitchFamily="2" charset="2"/>
              <a:buChar char="Ø"/>
            </a:pPr>
            <a:r>
              <a:rPr lang="en-IN" dirty="0">
                <a:solidFill>
                  <a:schemeClr val="bg1"/>
                </a:solidFill>
              </a:rPr>
              <a:t>Not Delivered </a:t>
            </a:r>
          </a:p>
          <a:p>
            <a:endParaRPr lang="en-IN" dirty="0">
              <a:solidFill>
                <a:schemeClr val="bg1"/>
              </a:solidFill>
            </a:endParaRPr>
          </a:p>
          <a:p>
            <a:pPr marL="285750" indent="-285750">
              <a:buFont typeface="Arial" panose="020B0604020202020204" pitchFamily="34" charset="0"/>
              <a:buChar char="•"/>
            </a:pPr>
            <a:r>
              <a:rPr lang="en-IN" b="1" dirty="0">
                <a:solidFill>
                  <a:schemeClr val="bg1"/>
                </a:solidFill>
              </a:rPr>
              <a:t>Month Year</a:t>
            </a:r>
          </a:p>
          <a:p>
            <a:pPr marL="285750" indent="-285750">
              <a:buFont typeface="Wingdings" panose="05000000000000000000" pitchFamily="2" charset="2"/>
              <a:buChar char="Ø"/>
            </a:pPr>
            <a:r>
              <a:rPr lang="en-IN" dirty="0">
                <a:solidFill>
                  <a:schemeClr val="bg1"/>
                </a:solidFill>
              </a:rPr>
              <a:t>Used for trend analysis.</a:t>
            </a:r>
          </a:p>
          <a:p>
            <a:endParaRPr lang="en-IN" dirty="0">
              <a:solidFill>
                <a:schemeClr val="bg1"/>
              </a:solidFill>
              <a:latin typeface="Segoe UI Semibold" panose="020B0702040204020203" pitchFamily="34" charset="0"/>
              <a:cs typeface="Segoe UI Semibold" panose="020B0702040204020203" pitchFamily="34" charset="0"/>
            </a:endParaRPr>
          </a:p>
        </p:txBody>
      </p:sp>
      <p:sp>
        <p:nvSpPr>
          <p:cNvPr id="14" name="TextBox 13">
            <a:extLst>
              <a:ext uri="{FF2B5EF4-FFF2-40B4-BE49-F238E27FC236}">
                <a16:creationId xmlns:a16="http://schemas.microsoft.com/office/drawing/2014/main" id="{EB4ADE32-E569-4C32-0098-B8FE93325BDF}"/>
              </a:ext>
            </a:extLst>
          </p:cNvPr>
          <p:cNvSpPr txBox="1"/>
          <p:nvPr/>
        </p:nvSpPr>
        <p:spPr>
          <a:xfrm>
            <a:off x="0" y="241685"/>
            <a:ext cx="5225847" cy="461665"/>
          </a:xfrm>
          <a:prstGeom prst="rect">
            <a:avLst/>
          </a:prstGeom>
          <a:noFill/>
        </p:spPr>
        <p:txBody>
          <a:bodyPr wrap="square" rtlCol="0">
            <a:spAutoFit/>
          </a:bodyPr>
          <a:lstStyle/>
          <a:p>
            <a:r>
              <a:rPr lang="en-IN" sz="2400" dirty="0">
                <a:solidFill>
                  <a:schemeClr val="bg1"/>
                </a:solidFill>
                <a:latin typeface="Segoe UI Semibold" panose="020B0702040204020203" pitchFamily="34" charset="0"/>
                <a:cs typeface="Segoe UI Semibold" panose="020B0702040204020203" pitchFamily="34" charset="0"/>
              </a:rPr>
              <a:t>Data Transformation &amp; Dax</a:t>
            </a:r>
            <a:endParaRPr lang="en-IN" sz="2400" b="1" dirty="0">
              <a:solidFill>
                <a:schemeClr val="bg1"/>
              </a:solidFill>
              <a:latin typeface="Segoe UI Semibold" panose="020B0702040204020203" pitchFamily="34" charset="0"/>
              <a:cs typeface="Segoe UI Semibold" panose="020B0702040204020203" pitchFamily="34" charset="0"/>
            </a:endParaRPr>
          </a:p>
        </p:txBody>
      </p:sp>
      <p:pic>
        <p:nvPicPr>
          <p:cNvPr id="3" name="Picture 2">
            <a:extLst>
              <a:ext uri="{FF2B5EF4-FFF2-40B4-BE49-F238E27FC236}">
                <a16:creationId xmlns:a16="http://schemas.microsoft.com/office/drawing/2014/main" id="{0AC954EE-A6DC-0538-74F0-0C2A20B6990F}"/>
              </a:ext>
            </a:extLst>
          </p:cNvPr>
          <p:cNvPicPr>
            <a:picLocks noChangeAspect="1"/>
          </p:cNvPicPr>
          <p:nvPr/>
        </p:nvPicPr>
        <p:blipFill>
          <a:blip r:embed="rId2"/>
          <a:stretch>
            <a:fillRect/>
          </a:stretch>
        </p:blipFill>
        <p:spPr>
          <a:xfrm>
            <a:off x="178289" y="1278037"/>
            <a:ext cx="5917711" cy="3535728"/>
          </a:xfrm>
          <a:prstGeom prst="rect">
            <a:avLst/>
          </a:prstGeom>
        </p:spPr>
      </p:pic>
      <p:cxnSp>
        <p:nvCxnSpPr>
          <p:cNvPr id="4" name="Straight Connector 3">
            <a:extLst>
              <a:ext uri="{FF2B5EF4-FFF2-40B4-BE49-F238E27FC236}">
                <a16:creationId xmlns:a16="http://schemas.microsoft.com/office/drawing/2014/main" id="{E9E4312A-D0AB-90AB-B24D-EB7B796596E7}"/>
              </a:ext>
            </a:extLst>
          </p:cNvPr>
          <p:cNvCxnSpPr>
            <a:cxnSpLocks/>
          </p:cNvCxnSpPr>
          <p:nvPr/>
        </p:nvCxnSpPr>
        <p:spPr>
          <a:xfrm>
            <a:off x="90436" y="703350"/>
            <a:ext cx="3783474" cy="0"/>
          </a:xfrm>
          <a:prstGeom prst="line">
            <a:avLst/>
          </a:prstGeom>
          <a:ln w="28575">
            <a:solidFill>
              <a:srgbClr val="14B8A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9779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6111F"/>
        </a:solidFill>
        <a:effectLst/>
      </p:bgPr>
    </p:bg>
    <p:spTree>
      <p:nvGrpSpPr>
        <p:cNvPr id="1" name="">
          <a:extLst>
            <a:ext uri="{FF2B5EF4-FFF2-40B4-BE49-F238E27FC236}">
              <a16:creationId xmlns:a16="http://schemas.microsoft.com/office/drawing/2014/main" id="{3F952964-33D1-8837-FA05-0CDB839D779F}"/>
            </a:ext>
          </a:extLst>
        </p:cNvPr>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B0A38464-DFFD-B650-B9EB-19D562EF54A3}"/>
              </a:ext>
            </a:extLst>
          </p:cNvPr>
          <p:cNvSpPr>
            <a:spLocks noGrp="1"/>
          </p:cNvSpPr>
          <p:nvPr>
            <p:ph type="ftr" sz="quarter" idx="11"/>
          </p:nvPr>
        </p:nvSpPr>
        <p:spPr/>
        <p:txBody>
          <a:bodyPr/>
          <a:lstStyle/>
          <a:p>
            <a:r>
              <a:rPr lang="en-US">
                <a:solidFill>
                  <a:srgbClr val="CBD5E1"/>
                </a:solidFill>
              </a:rPr>
              <a:t>Power BI | Ecommerce Analytics | Bharath Gowda J M</a:t>
            </a:r>
            <a:endParaRPr lang="en-IN" dirty="0">
              <a:solidFill>
                <a:srgbClr val="CBD5E1"/>
              </a:solidFill>
            </a:endParaRPr>
          </a:p>
        </p:txBody>
      </p:sp>
      <p:sp>
        <p:nvSpPr>
          <p:cNvPr id="11" name="TextBox 10">
            <a:extLst>
              <a:ext uri="{FF2B5EF4-FFF2-40B4-BE49-F238E27FC236}">
                <a16:creationId xmlns:a16="http://schemas.microsoft.com/office/drawing/2014/main" id="{BED0D859-1761-6433-71CA-98D0C1C24E4B}"/>
              </a:ext>
            </a:extLst>
          </p:cNvPr>
          <p:cNvSpPr txBox="1"/>
          <p:nvPr/>
        </p:nvSpPr>
        <p:spPr>
          <a:xfrm>
            <a:off x="8406581" y="703350"/>
            <a:ext cx="3785418" cy="3970318"/>
          </a:xfrm>
          <a:prstGeom prst="rect">
            <a:avLst/>
          </a:prstGeom>
          <a:noFill/>
        </p:spPr>
        <p:txBody>
          <a:bodyPr wrap="square" rtlCol="0">
            <a:spAutoFit/>
          </a:bodyPr>
          <a:lstStyle/>
          <a:p>
            <a:endParaRPr lang="en-IN" b="1"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IN" dirty="0">
                <a:solidFill>
                  <a:schemeClr val="bg1"/>
                </a:solidFill>
                <a:latin typeface="Segoe UI Semibold" panose="020B0702040204020203" pitchFamily="34" charset="0"/>
                <a:cs typeface="Segoe UI Semibold" panose="020B0702040204020203" pitchFamily="34" charset="0"/>
              </a:rPr>
              <a:t>Provides a centralized view of overall business performance.</a:t>
            </a:r>
          </a:p>
          <a:p>
            <a:endParaRPr lang="en-IN"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IN" dirty="0">
                <a:solidFill>
                  <a:schemeClr val="bg1"/>
                </a:solidFill>
                <a:latin typeface="Segoe UI Semibold" panose="020B0702040204020203" pitchFamily="34" charset="0"/>
                <a:cs typeface="Segoe UI Semibold" panose="020B0702040204020203" pitchFamily="34" charset="0"/>
              </a:rPr>
              <a:t>Revenue trends and order performance can be monitored in real time.</a:t>
            </a:r>
          </a:p>
          <a:p>
            <a:pPr marL="285750" indent="-285750">
              <a:buFont typeface="Arial" panose="020B0604020202020204" pitchFamily="34" charset="0"/>
              <a:buChar char="•"/>
            </a:pPr>
            <a:endParaRPr lang="en-IN" dirty="0">
              <a:solidFill>
                <a:schemeClr val="bg1"/>
              </a:solidFill>
              <a:latin typeface="Segoe UI Semibold" panose="020B0702040204020203" pitchFamily="34" charset="0"/>
              <a:cs typeface="Segoe UI Semibold" panose="020B0702040204020203" pitchFamily="34" charset="0"/>
            </a:endParaRPr>
          </a:p>
          <a:p>
            <a:pPr marL="342900" indent="-342900">
              <a:buFont typeface="Arial" panose="020B0604020202020204" pitchFamily="34" charset="0"/>
              <a:buChar char="•"/>
            </a:pPr>
            <a:r>
              <a:rPr lang="en-IN" sz="2000" b="1" dirty="0">
                <a:solidFill>
                  <a:schemeClr val="accent2"/>
                </a:solidFill>
                <a:latin typeface="Segoe UI Semibold" panose="020B0702040204020203" pitchFamily="34" charset="0"/>
                <a:cs typeface="Segoe UI Semibold" panose="020B0702040204020203" pitchFamily="34" charset="0"/>
              </a:rPr>
              <a:t>KPIs Included</a:t>
            </a:r>
          </a:p>
          <a:p>
            <a:pPr marL="285750" indent="-285750">
              <a:buFont typeface="Wingdings" panose="05000000000000000000" pitchFamily="2" charset="2"/>
              <a:buChar char="Ø"/>
            </a:pPr>
            <a:r>
              <a:rPr lang="en-IN" dirty="0">
                <a:solidFill>
                  <a:schemeClr val="accent2"/>
                </a:solidFill>
                <a:latin typeface="Segoe UI Semibold" panose="020B0702040204020203" pitchFamily="34" charset="0"/>
                <a:cs typeface="Segoe UI Semibold" panose="020B0702040204020203" pitchFamily="34" charset="0"/>
              </a:rPr>
              <a:t>Total Revenue </a:t>
            </a:r>
          </a:p>
          <a:p>
            <a:pPr marL="285750" indent="-285750">
              <a:buFont typeface="Wingdings" panose="05000000000000000000" pitchFamily="2" charset="2"/>
              <a:buChar char="Ø"/>
            </a:pPr>
            <a:r>
              <a:rPr lang="en-IN" dirty="0">
                <a:solidFill>
                  <a:schemeClr val="accent2"/>
                </a:solidFill>
                <a:latin typeface="Segoe UI Semibold" panose="020B0702040204020203" pitchFamily="34" charset="0"/>
                <a:cs typeface="Segoe UI Semibold" panose="020B0702040204020203" pitchFamily="34" charset="0"/>
              </a:rPr>
              <a:t>Total Orders </a:t>
            </a:r>
          </a:p>
          <a:p>
            <a:pPr marL="285750" indent="-285750">
              <a:buFont typeface="Wingdings" panose="05000000000000000000" pitchFamily="2" charset="2"/>
              <a:buChar char="Ø"/>
            </a:pPr>
            <a:r>
              <a:rPr lang="en-IN" dirty="0">
                <a:solidFill>
                  <a:schemeClr val="accent2"/>
                </a:solidFill>
                <a:latin typeface="Segoe UI Semibold" panose="020B0702040204020203" pitchFamily="34" charset="0"/>
                <a:cs typeface="Segoe UI Semibold" panose="020B0702040204020203" pitchFamily="34" charset="0"/>
              </a:rPr>
              <a:t>Total Customers </a:t>
            </a:r>
          </a:p>
          <a:p>
            <a:pPr marL="285750" indent="-285750">
              <a:buFont typeface="Wingdings" panose="05000000000000000000" pitchFamily="2" charset="2"/>
              <a:buChar char="Ø"/>
            </a:pPr>
            <a:r>
              <a:rPr lang="en-IN" dirty="0">
                <a:solidFill>
                  <a:schemeClr val="accent2"/>
                </a:solidFill>
                <a:latin typeface="Segoe UI Semibold" panose="020B0702040204020203" pitchFamily="34" charset="0"/>
                <a:cs typeface="Segoe UI Semibold" panose="020B0702040204020203" pitchFamily="34" charset="0"/>
              </a:rPr>
              <a:t>Total Sellers</a:t>
            </a:r>
          </a:p>
          <a:p>
            <a:endParaRPr lang="en-IN" dirty="0">
              <a:solidFill>
                <a:schemeClr val="bg1"/>
              </a:solidFill>
              <a:latin typeface="Segoe UI Semibold" panose="020B0702040204020203" pitchFamily="34" charset="0"/>
              <a:cs typeface="Segoe UI Semibold" panose="020B0702040204020203" pitchFamily="34" charset="0"/>
            </a:endParaRPr>
          </a:p>
        </p:txBody>
      </p:sp>
      <p:sp>
        <p:nvSpPr>
          <p:cNvPr id="14" name="TextBox 13">
            <a:extLst>
              <a:ext uri="{FF2B5EF4-FFF2-40B4-BE49-F238E27FC236}">
                <a16:creationId xmlns:a16="http://schemas.microsoft.com/office/drawing/2014/main" id="{F575289F-02EF-B8F1-990D-AD86F8322801}"/>
              </a:ext>
            </a:extLst>
          </p:cNvPr>
          <p:cNvSpPr txBox="1"/>
          <p:nvPr/>
        </p:nvSpPr>
        <p:spPr>
          <a:xfrm>
            <a:off x="0" y="241685"/>
            <a:ext cx="5225847" cy="461665"/>
          </a:xfrm>
          <a:prstGeom prst="rect">
            <a:avLst/>
          </a:prstGeom>
          <a:noFill/>
        </p:spPr>
        <p:txBody>
          <a:bodyPr wrap="square" rtlCol="0">
            <a:spAutoFit/>
          </a:bodyPr>
          <a:lstStyle/>
          <a:p>
            <a:r>
              <a:rPr lang="en-IN" sz="2400" dirty="0">
                <a:solidFill>
                  <a:schemeClr val="bg1"/>
                </a:solidFill>
                <a:latin typeface="Segoe UI Semibold" panose="020B0702040204020203" pitchFamily="34" charset="0"/>
                <a:cs typeface="Segoe UI Semibold" panose="020B0702040204020203" pitchFamily="34" charset="0"/>
              </a:rPr>
              <a:t>EXECUTIVE OVERVIEW DASHBOARD</a:t>
            </a:r>
            <a:endParaRPr lang="en-IN" sz="2400" b="1" dirty="0">
              <a:solidFill>
                <a:schemeClr val="bg1"/>
              </a:solidFill>
              <a:latin typeface="Segoe UI Semibold" panose="020B0702040204020203" pitchFamily="34" charset="0"/>
              <a:cs typeface="Segoe UI Semibold" panose="020B0702040204020203" pitchFamily="34" charset="0"/>
            </a:endParaRPr>
          </a:p>
        </p:txBody>
      </p:sp>
      <p:pic>
        <p:nvPicPr>
          <p:cNvPr id="6" name="Picture 5">
            <a:extLst>
              <a:ext uri="{FF2B5EF4-FFF2-40B4-BE49-F238E27FC236}">
                <a16:creationId xmlns:a16="http://schemas.microsoft.com/office/drawing/2014/main" id="{36357E9E-8691-B7A6-8536-921550DAC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30889"/>
            <a:ext cx="8259097" cy="5525461"/>
          </a:xfrm>
          <a:prstGeom prst="rect">
            <a:avLst/>
          </a:prstGeom>
        </p:spPr>
      </p:pic>
      <p:cxnSp>
        <p:nvCxnSpPr>
          <p:cNvPr id="7" name="Straight Connector 6">
            <a:extLst>
              <a:ext uri="{FF2B5EF4-FFF2-40B4-BE49-F238E27FC236}">
                <a16:creationId xmlns:a16="http://schemas.microsoft.com/office/drawing/2014/main" id="{F0A92CE4-F144-E95A-DE4F-DC835662E842}"/>
              </a:ext>
            </a:extLst>
          </p:cNvPr>
          <p:cNvCxnSpPr>
            <a:cxnSpLocks/>
          </p:cNvCxnSpPr>
          <p:nvPr/>
        </p:nvCxnSpPr>
        <p:spPr>
          <a:xfrm>
            <a:off x="90436" y="703350"/>
            <a:ext cx="5022338" cy="0"/>
          </a:xfrm>
          <a:prstGeom prst="line">
            <a:avLst/>
          </a:prstGeom>
          <a:ln w="28575">
            <a:solidFill>
              <a:srgbClr val="14B8A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7785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6111F"/>
        </a:solidFill>
        <a:effectLst/>
      </p:bgPr>
    </p:bg>
    <p:spTree>
      <p:nvGrpSpPr>
        <p:cNvPr id="1" name="">
          <a:extLst>
            <a:ext uri="{FF2B5EF4-FFF2-40B4-BE49-F238E27FC236}">
              <a16:creationId xmlns:a16="http://schemas.microsoft.com/office/drawing/2014/main" id="{293C96D5-29CD-5DCE-5034-7E38BA07A0E7}"/>
            </a:ext>
          </a:extLst>
        </p:cNvPr>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742D610B-302B-CF07-6233-E54B01D15016}"/>
              </a:ext>
            </a:extLst>
          </p:cNvPr>
          <p:cNvSpPr>
            <a:spLocks noGrp="1"/>
          </p:cNvSpPr>
          <p:nvPr>
            <p:ph type="ftr" sz="quarter" idx="11"/>
          </p:nvPr>
        </p:nvSpPr>
        <p:spPr/>
        <p:txBody>
          <a:bodyPr/>
          <a:lstStyle/>
          <a:p>
            <a:r>
              <a:rPr lang="en-US" dirty="0">
                <a:solidFill>
                  <a:srgbClr val="CBD5E1"/>
                </a:solidFill>
              </a:rPr>
              <a:t>Power BI | Ecommerce Analytics | Bharath Gowda J M</a:t>
            </a:r>
            <a:endParaRPr lang="en-IN" dirty="0">
              <a:solidFill>
                <a:srgbClr val="CBD5E1"/>
              </a:solidFill>
            </a:endParaRPr>
          </a:p>
        </p:txBody>
      </p:sp>
      <p:sp>
        <p:nvSpPr>
          <p:cNvPr id="14" name="TextBox 13">
            <a:extLst>
              <a:ext uri="{FF2B5EF4-FFF2-40B4-BE49-F238E27FC236}">
                <a16:creationId xmlns:a16="http://schemas.microsoft.com/office/drawing/2014/main" id="{4BE78E3C-4D9C-29BA-C33C-7BE7B930029B}"/>
              </a:ext>
            </a:extLst>
          </p:cNvPr>
          <p:cNvSpPr txBox="1"/>
          <p:nvPr/>
        </p:nvSpPr>
        <p:spPr>
          <a:xfrm>
            <a:off x="0" y="136525"/>
            <a:ext cx="5225847" cy="461665"/>
          </a:xfrm>
          <a:prstGeom prst="rect">
            <a:avLst/>
          </a:prstGeom>
          <a:noFill/>
        </p:spPr>
        <p:txBody>
          <a:bodyPr wrap="square" rtlCol="0">
            <a:spAutoFit/>
          </a:bodyPr>
          <a:lstStyle/>
          <a:p>
            <a:r>
              <a:rPr lang="en-IN" sz="2400" dirty="0">
                <a:solidFill>
                  <a:schemeClr val="bg1"/>
                </a:solidFill>
                <a:latin typeface="Segoe UI Semibold" panose="020B0702040204020203" pitchFamily="34" charset="0"/>
                <a:cs typeface="Segoe UI Semibold" panose="020B0702040204020203" pitchFamily="34" charset="0"/>
              </a:rPr>
              <a:t>CUSTOMER &amp; QUALITY ANALYTICS</a:t>
            </a:r>
            <a:endParaRPr lang="en-IN" sz="2400" b="1" dirty="0">
              <a:solidFill>
                <a:schemeClr val="bg1"/>
              </a:solidFill>
              <a:latin typeface="Segoe UI Semibold" panose="020B0702040204020203" pitchFamily="34" charset="0"/>
              <a:cs typeface="Segoe UI Semibold" panose="020B0702040204020203" pitchFamily="34" charset="0"/>
            </a:endParaRPr>
          </a:p>
        </p:txBody>
      </p:sp>
      <p:pic>
        <p:nvPicPr>
          <p:cNvPr id="4" name="Picture 3">
            <a:extLst>
              <a:ext uri="{FF2B5EF4-FFF2-40B4-BE49-F238E27FC236}">
                <a16:creationId xmlns:a16="http://schemas.microsoft.com/office/drawing/2014/main" id="{46C57D18-C22B-B64B-A0C1-8DFA3C15308D}"/>
              </a:ext>
            </a:extLst>
          </p:cNvPr>
          <p:cNvPicPr>
            <a:picLocks noChangeAspect="1"/>
          </p:cNvPicPr>
          <p:nvPr/>
        </p:nvPicPr>
        <p:blipFill>
          <a:blip r:embed="rId2"/>
          <a:stretch>
            <a:fillRect/>
          </a:stretch>
        </p:blipFill>
        <p:spPr>
          <a:xfrm>
            <a:off x="68865" y="723798"/>
            <a:ext cx="6469587" cy="5632552"/>
          </a:xfrm>
          <a:prstGeom prst="rect">
            <a:avLst/>
          </a:prstGeom>
        </p:spPr>
      </p:pic>
      <p:sp>
        <p:nvSpPr>
          <p:cNvPr id="10" name="TextBox 9">
            <a:extLst>
              <a:ext uri="{FF2B5EF4-FFF2-40B4-BE49-F238E27FC236}">
                <a16:creationId xmlns:a16="http://schemas.microsoft.com/office/drawing/2014/main" id="{6E0926FE-47CA-B60F-1FDA-9EC1C1145A80}"/>
              </a:ext>
            </a:extLst>
          </p:cNvPr>
          <p:cNvSpPr txBox="1"/>
          <p:nvPr/>
        </p:nvSpPr>
        <p:spPr>
          <a:xfrm>
            <a:off x="6646607" y="723798"/>
            <a:ext cx="5161936" cy="4247317"/>
          </a:xfrm>
          <a:prstGeom prst="rect">
            <a:avLst/>
          </a:prstGeom>
          <a:noFill/>
        </p:spPr>
        <p:txBody>
          <a:bodyPr wrap="square" rtlCol="0">
            <a:spAutoFit/>
          </a:bodyPr>
          <a:lstStyle/>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Features:</a:t>
            </a:r>
            <a:endParaRPr lang="en-US"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US" dirty="0">
                <a:solidFill>
                  <a:schemeClr val="bg1"/>
                </a:solidFill>
                <a:latin typeface="Segoe UI Semibold" panose="020B0702040204020203" pitchFamily="34" charset="0"/>
                <a:cs typeface="Segoe UI Semibold" panose="020B0702040204020203" pitchFamily="34" charset="0"/>
              </a:rPr>
              <a:t>Review distribution</a:t>
            </a:r>
          </a:p>
          <a:p>
            <a:pPr marL="285750" indent="-285750">
              <a:buFont typeface="Arial" panose="020B0604020202020204" pitchFamily="34" charset="0"/>
              <a:buChar char="•"/>
            </a:pPr>
            <a:r>
              <a:rPr lang="en-US" dirty="0">
                <a:solidFill>
                  <a:schemeClr val="bg1"/>
                </a:solidFill>
                <a:latin typeface="Segoe UI Semibold" panose="020B0702040204020203" pitchFamily="34" charset="0"/>
                <a:cs typeface="Segoe UI Semibold" panose="020B0702040204020203" pitchFamily="34" charset="0"/>
              </a:rPr>
              <a:t>Customer satisfaction trends</a:t>
            </a:r>
          </a:p>
          <a:p>
            <a:pPr marL="285750" indent="-285750">
              <a:buFont typeface="Arial" panose="020B0604020202020204" pitchFamily="34" charset="0"/>
              <a:buChar char="•"/>
            </a:pPr>
            <a:r>
              <a:rPr lang="en-US" dirty="0">
                <a:solidFill>
                  <a:schemeClr val="bg1"/>
                </a:solidFill>
                <a:latin typeface="Segoe UI Semibold" panose="020B0702040204020203" pitchFamily="34" charset="0"/>
                <a:cs typeface="Segoe UI Semibold" panose="020B0702040204020203" pitchFamily="34" charset="0"/>
              </a:rPr>
              <a:t>Top rated categories</a:t>
            </a:r>
          </a:p>
          <a:p>
            <a:pPr marL="285750" indent="-285750">
              <a:buFont typeface="Arial" panose="020B0604020202020204" pitchFamily="34" charset="0"/>
              <a:buChar char="•"/>
            </a:pPr>
            <a:r>
              <a:rPr lang="en-US" dirty="0">
                <a:solidFill>
                  <a:schemeClr val="bg1"/>
                </a:solidFill>
                <a:latin typeface="Segoe UI Semibold" panose="020B0702040204020203" pitchFamily="34" charset="0"/>
                <a:cs typeface="Segoe UI Semibold" panose="020B0702040204020203" pitchFamily="34" charset="0"/>
              </a:rPr>
              <a:t>Low rated categories</a:t>
            </a:r>
          </a:p>
          <a:p>
            <a:pPr marL="285750" indent="-285750">
              <a:buFont typeface="Arial" panose="020B0604020202020204" pitchFamily="34" charset="0"/>
              <a:buChar char="•"/>
            </a:pPr>
            <a:endParaRPr lang="en-US"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endParaRPr lang="en-US"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IN" dirty="0">
                <a:solidFill>
                  <a:srgbClr val="00B050"/>
                </a:solidFill>
                <a:latin typeface="Segoe UI Semibold" panose="020B0702040204020203" pitchFamily="34" charset="0"/>
                <a:cs typeface="Segoe UI Semibold" panose="020B0702040204020203" pitchFamily="34" charset="0"/>
              </a:rPr>
              <a:t>Most customers provide positive ratings</a:t>
            </a:r>
          </a:p>
          <a:p>
            <a:pPr marL="285750" indent="-285750">
              <a:buFont typeface="Arial" panose="020B0604020202020204" pitchFamily="34" charset="0"/>
              <a:buChar char="•"/>
            </a:pPr>
            <a:r>
              <a:rPr lang="en-IN" dirty="0">
                <a:solidFill>
                  <a:srgbClr val="00B050"/>
                </a:solidFill>
                <a:latin typeface="Segoe UI Semibold" panose="020B0702040204020203" pitchFamily="34" charset="0"/>
                <a:cs typeface="Segoe UI Semibold" panose="020B0702040204020203" pitchFamily="34" charset="0"/>
              </a:rPr>
              <a:t>Certain categories consistently receive lower ratings</a:t>
            </a:r>
          </a:p>
          <a:p>
            <a:pPr marL="285750" indent="-285750">
              <a:buFont typeface="Arial" panose="020B0604020202020204" pitchFamily="34" charset="0"/>
              <a:buChar char="•"/>
            </a:pPr>
            <a:r>
              <a:rPr lang="en-IN" dirty="0">
                <a:solidFill>
                  <a:srgbClr val="00B050"/>
                </a:solidFill>
                <a:latin typeface="Segoe UI Semibold" panose="020B0702040204020203" pitchFamily="34" charset="0"/>
                <a:cs typeface="Segoe UI Semibold" panose="020B0702040204020203" pitchFamily="34" charset="0"/>
              </a:rPr>
              <a:t>Review trends help identify quality improvement opportunities</a:t>
            </a:r>
          </a:p>
          <a:p>
            <a:pPr marL="285750" indent="-285750">
              <a:buFont typeface="Arial" panose="020B0604020202020204" pitchFamily="34" charset="0"/>
              <a:buChar char="•"/>
            </a:pPr>
            <a:r>
              <a:rPr lang="en-IN" dirty="0">
                <a:solidFill>
                  <a:srgbClr val="00B050"/>
                </a:solidFill>
                <a:latin typeface="Segoe UI Semibold" panose="020B0702040204020203" pitchFamily="34" charset="0"/>
                <a:cs typeface="Segoe UI Semibold" panose="020B0702040204020203" pitchFamily="34" charset="0"/>
              </a:rPr>
              <a:t>Supports customer experience and product quality management</a:t>
            </a:r>
            <a:endParaRPr lang="en-US" dirty="0">
              <a:solidFill>
                <a:srgbClr val="00B050"/>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endParaRPr lang="en-IN" dirty="0"/>
          </a:p>
        </p:txBody>
      </p:sp>
      <p:cxnSp>
        <p:nvCxnSpPr>
          <p:cNvPr id="17" name="Straight Connector 16">
            <a:extLst>
              <a:ext uri="{FF2B5EF4-FFF2-40B4-BE49-F238E27FC236}">
                <a16:creationId xmlns:a16="http://schemas.microsoft.com/office/drawing/2014/main" id="{1D97683D-8F97-7147-A996-944614293848}"/>
              </a:ext>
            </a:extLst>
          </p:cNvPr>
          <p:cNvCxnSpPr>
            <a:cxnSpLocks/>
          </p:cNvCxnSpPr>
          <p:nvPr/>
        </p:nvCxnSpPr>
        <p:spPr>
          <a:xfrm>
            <a:off x="68865" y="598190"/>
            <a:ext cx="4916090" cy="0"/>
          </a:xfrm>
          <a:prstGeom prst="line">
            <a:avLst/>
          </a:prstGeom>
          <a:ln w="28575">
            <a:solidFill>
              <a:srgbClr val="14B8A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0005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6111F"/>
        </a:solidFill>
        <a:effectLst/>
      </p:bgPr>
    </p:bg>
    <p:spTree>
      <p:nvGrpSpPr>
        <p:cNvPr id="1" name="">
          <a:extLst>
            <a:ext uri="{FF2B5EF4-FFF2-40B4-BE49-F238E27FC236}">
              <a16:creationId xmlns:a16="http://schemas.microsoft.com/office/drawing/2014/main" id="{657894B7-22E9-EF6B-3BFA-7D2FFFAB7D1B}"/>
            </a:ext>
          </a:extLst>
        </p:cNvPr>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F455F54E-4E0B-1A25-D6FD-F77DE0EC8B00}"/>
              </a:ext>
            </a:extLst>
          </p:cNvPr>
          <p:cNvSpPr>
            <a:spLocks noGrp="1"/>
          </p:cNvSpPr>
          <p:nvPr>
            <p:ph type="ftr" sz="quarter" idx="11"/>
          </p:nvPr>
        </p:nvSpPr>
        <p:spPr/>
        <p:txBody>
          <a:bodyPr/>
          <a:lstStyle/>
          <a:p>
            <a:r>
              <a:rPr lang="en-US" dirty="0">
                <a:solidFill>
                  <a:srgbClr val="CBD5E1"/>
                </a:solidFill>
              </a:rPr>
              <a:t>Power BI | Ecommerce Analytics | Bharath Gowda J M</a:t>
            </a:r>
            <a:endParaRPr lang="en-IN" dirty="0">
              <a:solidFill>
                <a:srgbClr val="CBD5E1"/>
              </a:solidFill>
            </a:endParaRPr>
          </a:p>
        </p:txBody>
      </p:sp>
      <p:sp>
        <p:nvSpPr>
          <p:cNvPr id="14" name="TextBox 13">
            <a:extLst>
              <a:ext uri="{FF2B5EF4-FFF2-40B4-BE49-F238E27FC236}">
                <a16:creationId xmlns:a16="http://schemas.microsoft.com/office/drawing/2014/main" id="{14EE0575-A0A7-5326-9F4F-A466C76DB481}"/>
              </a:ext>
            </a:extLst>
          </p:cNvPr>
          <p:cNvSpPr txBox="1"/>
          <p:nvPr/>
        </p:nvSpPr>
        <p:spPr>
          <a:xfrm>
            <a:off x="0" y="136525"/>
            <a:ext cx="5225847" cy="461665"/>
          </a:xfrm>
          <a:prstGeom prst="rect">
            <a:avLst/>
          </a:prstGeom>
          <a:noFill/>
        </p:spPr>
        <p:txBody>
          <a:bodyPr wrap="square" rtlCol="0">
            <a:spAutoFit/>
          </a:bodyPr>
          <a:lstStyle/>
          <a:p>
            <a:r>
              <a:rPr lang="en-IN" sz="2400" dirty="0">
                <a:solidFill>
                  <a:schemeClr val="bg1"/>
                </a:solidFill>
                <a:latin typeface="Segoe UI Semibold" panose="020B0702040204020203" pitchFamily="34" charset="0"/>
                <a:cs typeface="Segoe UI Semibold" panose="020B0702040204020203" pitchFamily="34" charset="0"/>
              </a:rPr>
              <a:t>PRODUCT &amp; LOGISTICS ANALYTICS</a:t>
            </a:r>
            <a:endParaRPr lang="en-IN" sz="2400" b="1" dirty="0">
              <a:solidFill>
                <a:schemeClr val="bg1"/>
              </a:solidFill>
              <a:latin typeface="Segoe UI Semibold" panose="020B0702040204020203" pitchFamily="34" charset="0"/>
              <a:cs typeface="Segoe UI Semibold" panose="020B0702040204020203" pitchFamily="34" charset="0"/>
            </a:endParaRPr>
          </a:p>
        </p:txBody>
      </p:sp>
      <p:sp>
        <p:nvSpPr>
          <p:cNvPr id="10" name="TextBox 9">
            <a:extLst>
              <a:ext uri="{FF2B5EF4-FFF2-40B4-BE49-F238E27FC236}">
                <a16:creationId xmlns:a16="http://schemas.microsoft.com/office/drawing/2014/main" id="{1BDF6074-7B07-3CE7-9774-2BE081913B3E}"/>
              </a:ext>
            </a:extLst>
          </p:cNvPr>
          <p:cNvSpPr txBox="1"/>
          <p:nvPr/>
        </p:nvSpPr>
        <p:spPr>
          <a:xfrm>
            <a:off x="6646607" y="723798"/>
            <a:ext cx="5161936" cy="4247317"/>
          </a:xfrm>
          <a:prstGeom prst="rect">
            <a:avLst/>
          </a:prstGeom>
          <a:noFill/>
        </p:spPr>
        <p:txBody>
          <a:bodyPr wrap="square" rtlCol="0">
            <a:spAutoFit/>
          </a:bodyPr>
          <a:lstStyle/>
          <a:p>
            <a:pPr marL="285750" indent="-285750">
              <a:buFont typeface="Wingdings" panose="05000000000000000000" pitchFamily="2" charset="2"/>
              <a:buChar char="Ø"/>
            </a:pPr>
            <a:r>
              <a:rPr lang="en-IN" dirty="0">
                <a:solidFill>
                  <a:schemeClr val="bg1"/>
                </a:solidFill>
                <a:latin typeface="Segoe UI Semibold" panose="020B0702040204020203" pitchFamily="34" charset="0"/>
                <a:cs typeface="Segoe UI Semibold" panose="020B0702040204020203" pitchFamily="34" charset="0"/>
              </a:rPr>
              <a:t>Features:</a:t>
            </a:r>
          </a:p>
          <a:p>
            <a:pPr marL="285750" indent="-285750">
              <a:buFont typeface="Arial" panose="020B0604020202020204" pitchFamily="34" charset="0"/>
              <a:buChar char="•"/>
            </a:pPr>
            <a:r>
              <a:rPr lang="en-IN" dirty="0">
                <a:solidFill>
                  <a:schemeClr val="bg1"/>
                </a:solidFill>
                <a:latin typeface="Segoe UI Semibold" panose="020B0702040204020203" pitchFamily="34" charset="0"/>
                <a:cs typeface="Segoe UI Semibold" panose="020B0702040204020203" pitchFamily="34" charset="0"/>
              </a:rPr>
              <a:t>Regional Sales Map</a:t>
            </a:r>
            <a:endParaRPr lang="en-US" dirty="0">
              <a:solidFill>
                <a:schemeClr val="bg1"/>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IN" dirty="0">
                <a:solidFill>
                  <a:schemeClr val="bg1"/>
                </a:solidFill>
                <a:latin typeface="Segoe UI Semibold" panose="020B0702040204020203" pitchFamily="34" charset="0"/>
                <a:cs typeface="Segoe UI Semibold" panose="020B0702040204020203" pitchFamily="34" charset="0"/>
              </a:rPr>
              <a:t>Delivery Performance</a:t>
            </a:r>
          </a:p>
          <a:p>
            <a:pPr marL="285750" indent="-285750">
              <a:buFont typeface="Arial" panose="020B0604020202020204" pitchFamily="34" charset="0"/>
              <a:buChar char="•"/>
            </a:pPr>
            <a:r>
              <a:rPr lang="en-IN" dirty="0">
                <a:solidFill>
                  <a:schemeClr val="bg1"/>
                </a:solidFill>
                <a:latin typeface="Segoe UI Semibold" panose="020B0702040204020203" pitchFamily="34" charset="0"/>
                <a:cs typeface="Segoe UI Semibold" panose="020B0702040204020203" pitchFamily="34" charset="0"/>
              </a:rPr>
              <a:t>Freight Trends</a:t>
            </a:r>
          </a:p>
          <a:p>
            <a:pPr marL="285750" indent="-285750">
              <a:buFont typeface="Arial" panose="020B0604020202020204" pitchFamily="34" charset="0"/>
              <a:buChar char="•"/>
            </a:pPr>
            <a:r>
              <a:rPr lang="en-IN" dirty="0">
                <a:solidFill>
                  <a:schemeClr val="bg1"/>
                </a:solidFill>
                <a:latin typeface="Segoe UI Semibold" panose="020B0702040204020203" pitchFamily="34" charset="0"/>
                <a:cs typeface="Segoe UI Semibold" panose="020B0702040204020203" pitchFamily="34" charset="0"/>
              </a:rPr>
              <a:t>Seller Performance</a:t>
            </a:r>
            <a:endParaRPr lang="en-US" dirty="0">
              <a:solidFill>
                <a:schemeClr val="bg1"/>
              </a:solidFill>
              <a:latin typeface="Segoe UI Semibold" panose="020B0702040204020203" pitchFamily="34" charset="0"/>
              <a:cs typeface="Segoe UI Semibold" panose="020B0702040204020203" pitchFamily="34" charset="0"/>
            </a:endParaRPr>
          </a:p>
          <a:p>
            <a:endParaRPr lang="en-US" dirty="0">
              <a:solidFill>
                <a:schemeClr val="bg1"/>
              </a:solidFill>
              <a:latin typeface="Segoe UI Semibold" panose="020B0702040204020203" pitchFamily="34" charset="0"/>
              <a:cs typeface="Segoe UI Semibold" panose="020B0702040204020203" pitchFamily="34" charset="0"/>
            </a:endParaRPr>
          </a:p>
          <a:p>
            <a:endParaRPr lang="en-US" dirty="0">
              <a:solidFill>
                <a:srgbClr val="00B0F0"/>
              </a:solidFill>
              <a:latin typeface="Segoe UI Semibold" panose="020B0702040204020203" pitchFamily="34" charset="0"/>
              <a:cs typeface="Segoe UI Semibold" panose="020B0702040204020203" pitchFamily="34" charset="0"/>
            </a:endParaRPr>
          </a:p>
          <a:p>
            <a:pPr marL="285750" indent="-285750">
              <a:buFont typeface="Arial" panose="020B0604020202020204" pitchFamily="34" charset="0"/>
              <a:buChar char="•"/>
            </a:pPr>
            <a:r>
              <a:rPr lang="en-IN" dirty="0">
                <a:solidFill>
                  <a:srgbClr val="00B0F0"/>
                </a:solidFill>
                <a:latin typeface="Segoe UI Semibold" panose="020B0702040204020203" pitchFamily="34" charset="0"/>
                <a:cs typeface="Segoe UI Semibold" panose="020B0702040204020203" pitchFamily="34" charset="0"/>
              </a:rPr>
              <a:t>Sales are concentrated in specific regions</a:t>
            </a:r>
          </a:p>
          <a:p>
            <a:pPr marL="285750" indent="-285750">
              <a:buFont typeface="Arial" panose="020B0604020202020204" pitchFamily="34" charset="0"/>
              <a:buChar char="•"/>
            </a:pPr>
            <a:r>
              <a:rPr lang="en-IN" dirty="0">
                <a:solidFill>
                  <a:srgbClr val="00B0F0"/>
                </a:solidFill>
                <a:latin typeface="Segoe UI Semibold" panose="020B0702040204020203" pitchFamily="34" charset="0"/>
                <a:cs typeface="Segoe UI Semibold" panose="020B0702040204020203" pitchFamily="34" charset="0"/>
              </a:rPr>
              <a:t>Most deliveries are completed on time</a:t>
            </a:r>
          </a:p>
          <a:p>
            <a:pPr marL="285750" indent="-285750">
              <a:buFont typeface="Arial" panose="020B0604020202020204" pitchFamily="34" charset="0"/>
              <a:buChar char="•"/>
            </a:pPr>
            <a:r>
              <a:rPr lang="en-IN" dirty="0">
                <a:solidFill>
                  <a:srgbClr val="00B0F0"/>
                </a:solidFill>
                <a:latin typeface="Segoe UI Semibold" panose="020B0702040204020203" pitchFamily="34" charset="0"/>
                <a:cs typeface="Segoe UI Semibold" panose="020B0702040204020203" pitchFamily="34" charset="0"/>
              </a:rPr>
              <a:t>Freight costs directly impact operational efficiency</a:t>
            </a:r>
          </a:p>
          <a:p>
            <a:pPr marL="285750" indent="-285750">
              <a:buFont typeface="Arial" panose="020B0604020202020204" pitchFamily="34" charset="0"/>
              <a:buChar char="•"/>
            </a:pPr>
            <a:r>
              <a:rPr lang="en-IN" dirty="0">
                <a:solidFill>
                  <a:srgbClr val="00B0F0"/>
                </a:solidFill>
                <a:latin typeface="Segoe UI Semibold" panose="020B0702040204020203" pitchFamily="34" charset="0"/>
                <a:cs typeface="Segoe UI Semibold" panose="020B0702040204020203" pitchFamily="34" charset="0"/>
              </a:rPr>
              <a:t>Seller contribution is uneven across the marketplace</a:t>
            </a:r>
          </a:p>
          <a:p>
            <a:pPr marL="285750" indent="-285750">
              <a:buFont typeface="Arial" panose="020B0604020202020204" pitchFamily="34" charset="0"/>
              <a:buChar char="•"/>
            </a:pPr>
            <a:r>
              <a:rPr lang="en-IN" dirty="0">
                <a:solidFill>
                  <a:srgbClr val="00B0F0"/>
                </a:solidFill>
                <a:latin typeface="Segoe UI Semibold" panose="020B0702040204020203" pitchFamily="34" charset="0"/>
                <a:cs typeface="Segoe UI Semibold" panose="020B0702040204020203" pitchFamily="34" charset="0"/>
              </a:rPr>
              <a:t>Supports logistics optimization and operational decision-making</a:t>
            </a:r>
          </a:p>
        </p:txBody>
      </p:sp>
      <p:pic>
        <p:nvPicPr>
          <p:cNvPr id="5" name="Picture 4">
            <a:extLst>
              <a:ext uri="{FF2B5EF4-FFF2-40B4-BE49-F238E27FC236}">
                <a16:creationId xmlns:a16="http://schemas.microsoft.com/office/drawing/2014/main" id="{4A21025D-E832-4285-5E11-488A10F62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005" y="921802"/>
            <a:ext cx="5898958" cy="5434548"/>
          </a:xfrm>
          <a:prstGeom prst="rect">
            <a:avLst/>
          </a:prstGeom>
        </p:spPr>
      </p:pic>
      <p:cxnSp>
        <p:nvCxnSpPr>
          <p:cNvPr id="6" name="Straight Connector 5">
            <a:extLst>
              <a:ext uri="{FF2B5EF4-FFF2-40B4-BE49-F238E27FC236}">
                <a16:creationId xmlns:a16="http://schemas.microsoft.com/office/drawing/2014/main" id="{62E11D0F-7B5A-712B-35AA-E89B9C1DC035}"/>
              </a:ext>
            </a:extLst>
          </p:cNvPr>
          <p:cNvCxnSpPr>
            <a:cxnSpLocks/>
          </p:cNvCxnSpPr>
          <p:nvPr/>
        </p:nvCxnSpPr>
        <p:spPr>
          <a:xfrm>
            <a:off x="120005" y="613282"/>
            <a:ext cx="4874854" cy="0"/>
          </a:xfrm>
          <a:prstGeom prst="line">
            <a:avLst/>
          </a:prstGeom>
          <a:ln w="28575">
            <a:solidFill>
              <a:srgbClr val="14B8A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9901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6111F"/>
        </a:solidFill>
        <a:effectLst/>
      </p:bgPr>
    </p:bg>
    <p:spTree>
      <p:nvGrpSpPr>
        <p:cNvPr id="1" name="">
          <a:extLst>
            <a:ext uri="{FF2B5EF4-FFF2-40B4-BE49-F238E27FC236}">
              <a16:creationId xmlns:a16="http://schemas.microsoft.com/office/drawing/2014/main" id="{990A42AC-E6C8-006D-9539-33A598155FA6}"/>
            </a:ext>
          </a:extLst>
        </p:cNvPr>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9F399CA9-9005-E508-92A2-198AAFC18816}"/>
              </a:ext>
            </a:extLst>
          </p:cNvPr>
          <p:cNvSpPr>
            <a:spLocks noGrp="1"/>
          </p:cNvSpPr>
          <p:nvPr>
            <p:ph type="ftr" sz="quarter" idx="11"/>
          </p:nvPr>
        </p:nvSpPr>
        <p:spPr/>
        <p:txBody>
          <a:bodyPr/>
          <a:lstStyle/>
          <a:p>
            <a:r>
              <a:rPr lang="en-US" dirty="0">
                <a:solidFill>
                  <a:srgbClr val="CBD5E1"/>
                </a:solidFill>
              </a:rPr>
              <a:t>Power BI | Ecommerce Analytics | Bharath Gowda J M</a:t>
            </a:r>
            <a:endParaRPr lang="en-IN" dirty="0">
              <a:solidFill>
                <a:srgbClr val="CBD5E1"/>
              </a:solidFill>
            </a:endParaRPr>
          </a:p>
        </p:txBody>
      </p:sp>
      <p:sp>
        <p:nvSpPr>
          <p:cNvPr id="14" name="TextBox 13">
            <a:extLst>
              <a:ext uri="{FF2B5EF4-FFF2-40B4-BE49-F238E27FC236}">
                <a16:creationId xmlns:a16="http://schemas.microsoft.com/office/drawing/2014/main" id="{1E8A1CE5-04E8-8144-D2AB-E9C1C34E7B0F}"/>
              </a:ext>
            </a:extLst>
          </p:cNvPr>
          <p:cNvSpPr txBox="1"/>
          <p:nvPr/>
        </p:nvSpPr>
        <p:spPr>
          <a:xfrm>
            <a:off x="1" y="136525"/>
            <a:ext cx="4038600" cy="461665"/>
          </a:xfrm>
          <a:prstGeom prst="rect">
            <a:avLst/>
          </a:prstGeom>
          <a:noFill/>
        </p:spPr>
        <p:txBody>
          <a:bodyPr wrap="square" rtlCol="0">
            <a:spAutoFit/>
          </a:bodyPr>
          <a:lstStyle/>
          <a:p>
            <a:r>
              <a:rPr lang="en-IN" sz="2400" dirty="0">
                <a:solidFill>
                  <a:schemeClr val="bg1"/>
                </a:solidFill>
                <a:latin typeface="Segoe UI Semibold" panose="020B0702040204020203" pitchFamily="34" charset="0"/>
                <a:cs typeface="Segoe UI Semibold" panose="020B0702040204020203" pitchFamily="34" charset="0"/>
              </a:rPr>
              <a:t>KEY BUSINESS INSIGHTS</a:t>
            </a:r>
            <a:endParaRPr lang="en-IN" sz="2400" b="1" dirty="0">
              <a:solidFill>
                <a:schemeClr val="bg1"/>
              </a:solidFill>
              <a:latin typeface="Segoe UI Semibold" panose="020B0702040204020203" pitchFamily="34" charset="0"/>
              <a:cs typeface="Segoe UI Semibold" panose="020B0702040204020203" pitchFamily="34" charset="0"/>
            </a:endParaRPr>
          </a:p>
        </p:txBody>
      </p:sp>
      <p:sp>
        <p:nvSpPr>
          <p:cNvPr id="10" name="TextBox 9">
            <a:extLst>
              <a:ext uri="{FF2B5EF4-FFF2-40B4-BE49-F238E27FC236}">
                <a16:creationId xmlns:a16="http://schemas.microsoft.com/office/drawing/2014/main" id="{43650BF9-DD51-AC5E-6D3D-45EA34964F48}"/>
              </a:ext>
            </a:extLst>
          </p:cNvPr>
          <p:cNvSpPr txBox="1"/>
          <p:nvPr/>
        </p:nvSpPr>
        <p:spPr>
          <a:xfrm>
            <a:off x="6096000" y="1112172"/>
            <a:ext cx="5712543" cy="3970318"/>
          </a:xfrm>
          <a:prstGeom prst="rect">
            <a:avLst/>
          </a:prstGeom>
          <a:noFill/>
        </p:spPr>
        <p:txBody>
          <a:bodyPr wrap="square" rtlCol="0">
            <a:spAutoFit/>
          </a:bodyPr>
          <a:lstStyle/>
          <a:p>
            <a:r>
              <a:rPr lang="en-IN" b="1" dirty="0">
                <a:solidFill>
                  <a:srgbClr val="00B0F0"/>
                </a:solidFill>
              </a:rPr>
              <a:t>Insight 4 — Seller Contribution</a:t>
            </a:r>
          </a:p>
          <a:p>
            <a:r>
              <a:rPr lang="en-IN" dirty="0">
                <a:solidFill>
                  <a:schemeClr val="bg1"/>
                </a:solidFill>
              </a:rPr>
              <a:t>A small group of sellers contributes a large portion of revenue.</a:t>
            </a:r>
          </a:p>
          <a:p>
            <a:r>
              <a:rPr lang="en-IN" b="1" dirty="0">
                <a:solidFill>
                  <a:srgbClr val="00B0F0"/>
                </a:solidFill>
              </a:rPr>
              <a:t>Action</a:t>
            </a:r>
            <a:r>
              <a:rPr lang="en-IN" b="1" dirty="0">
                <a:solidFill>
                  <a:schemeClr val="bg1"/>
                </a:solidFill>
              </a:rPr>
              <a:t>:</a:t>
            </a:r>
            <a:r>
              <a:rPr lang="en-IN" dirty="0">
                <a:solidFill>
                  <a:schemeClr val="bg1"/>
                </a:solidFill>
              </a:rPr>
              <a:t> Develop strategic seller partnerships.</a:t>
            </a:r>
          </a:p>
          <a:p>
            <a:endParaRPr lang="en-IN" dirty="0">
              <a:solidFill>
                <a:schemeClr val="bg1"/>
              </a:solidFill>
            </a:endParaRPr>
          </a:p>
          <a:p>
            <a:endParaRPr lang="en-IN" dirty="0">
              <a:solidFill>
                <a:schemeClr val="bg1"/>
              </a:solidFill>
            </a:endParaRPr>
          </a:p>
          <a:p>
            <a:endParaRPr lang="en-IN" dirty="0">
              <a:solidFill>
                <a:schemeClr val="bg1"/>
              </a:solidFill>
              <a:latin typeface="Segoe UI Semibold" panose="020B0702040204020203" pitchFamily="34" charset="0"/>
              <a:cs typeface="Segoe UI Semibold" panose="020B0702040204020203" pitchFamily="34" charset="0"/>
            </a:endParaRPr>
          </a:p>
          <a:p>
            <a:r>
              <a:rPr lang="en-IN" b="1" dirty="0">
                <a:solidFill>
                  <a:srgbClr val="00B050"/>
                </a:solidFill>
                <a:latin typeface="Segoe UI Semibold" panose="020B0702040204020203" pitchFamily="34" charset="0"/>
                <a:cs typeface="Segoe UI Semibold" panose="020B0702040204020203" pitchFamily="34" charset="0"/>
              </a:rPr>
              <a:t>Insight 5 — Regional Opportunities</a:t>
            </a:r>
          </a:p>
          <a:p>
            <a:r>
              <a:rPr lang="en-IN" dirty="0">
                <a:solidFill>
                  <a:schemeClr val="bg1"/>
                </a:solidFill>
                <a:latin typeface="Segoe UI Semibold" panose="020B0702040204020203" pitchFamily="34" charset="0"/>
                <a:cs typeface="Segoe UI Semibold" panose="020B0702040204020203" pitchFamily="34" charset="0"/>
              </a:rPr>
              <a:t>Revenue is concentrated in a limited number of states.</a:t>
            </a:r>
          </a:p>
          <a:p>
            <a:r>
              <a:rPr lang="en-IN" b="1" dirty="0">
                <a:solidFill>
                  <a:srgbClr val="00B050"/>
                </a:solidFill>
                <a:latin typeface="Segoe UI Semibold" panose="020B0702040204020203" pitchFamily="34" charset="0"/>
                <a:cs typeface="Segoe UI Semibold" panose="020B0702040204020203" pitchFamily="34" charset="0"/>
              </a:rPr>
              <a:t>Action</a:t>
            </a:r>
            <a:r>
              <a:rPr lang="en-IN" b="1" dirty="0">
                <a:solidFill>
                  <a:schemeClr val="bg1"/>
                </a:solidFill>
                <a:latin typeface="Segoe UI Semibold" panose="020B0702040204020203" pitchFamily="34" charset="0"/>
                <a:cs typeface="Segoe UI Semibold" panose="020B0702040204020203" pitchFamily="34" charset="0"/>
              </a:rPr>
              <a:t>:</a:t>
            </a:r>
            <a:r>
              <a:rPr lang="en-IN" dirty="0">
                <a:solidFill>
                  <a:schemeClr val="bg1"/>
                </a:solidFill>
                <a:latin typeface="Segoe UI Semibold" panose="020B0702040204020203" pitchFamily="34" charset="0"/>
                <a:cs typeface="Segoe UI Semibold" panose="020B0702040204020203" pitchFamily="34" charset="0"/>
              </a:rPr>
              <a:t> Explore expansion opportunities in underperforming regions.</a:t>
            </a:r>
          </a:p>
          <a:p>
            <a:endParaRPr lang="en-IN" dirty="0">
              <a:solidFill>
                <a:schemeClr val="bg1"/>
              </a:solidFill>
            </a:endParaRPr>
          </a:p>
          <a:p>
            <a:endParaRPr lang="en-IN" dirty="0">
              <a:solidFill>
                <a:schemeClr val="bg1"/>
              </a:solidFill>
              <a:latin typeface="Segoe UI Semibold" panose="020B0702040204020203" pitchFamily="34" charset="0"/>
              <a:cs typeface="Segoe UI Semibold" panose="020B0702040204020203" pitchFamily="34" charset="0"/>
            </a:endParaRPr>
          </a:p>
        </p:txBody>
      </p:sp>
      <p:sp>
        <p:nvSpPr>
          <p:cNvPr id="3" name="TextBox 2">
            <a:extLst>
              <a:ext uri="{FF2B5EF4-FFF2-40B4-BE49-F238E27FC236}">
                <a16:creationId xmlns:a16="http://schemas.microsoft.com/office/drawing/2014/main" id="{7080C23D-80AA-DFCF-9C75-5D0E59561590}"/>
              </a:ext>
            </a:extLst>
          </p:cNvPr>
          <p:cNvSpPr txBox="1"/>
          <p:nvPr/>
        </p:nvSpPr>
        <p:spPr>
          <a:xfrm>
            <a:off x="383457" y="1112172"/>
            <a:ext cx="5161936" cy="5355312"/>
          </a:xfrm>
          <a:prstGeom prst="rect">
            <a:avLst/>
          </a:prstGeom>
          <a:noFill/>
        </p:spPr>
        <p:txBody>
          <a:bodyPr wrap="square" rtlCol="0">
            <a:spAutoFit/>
          </a:bodyPr>
          <a:lstStyle/>
          <a:p>
            <a:r>
              <a:rPr lang="en-IN" b="1" dirty="0">
                <a:solidFill>
                  <a:srgbClr val="00B050"/>
                </a:solidFill>
                <a:latin typeface="Segoe UI Semibold" panose="020B0702040204020203" pitchFamily="34" charset="0"/>
                <a:cs typeface="Segoe UI Semibold" panose="020B0702040204020203" pitchFamily="34" charset="0"/>
              </a:rPr>
              <a:t>Insight 1 — Revenue Concentration</a:t>
            </a:r>
          </a:p>
          <a:p>
            <a:r>
              <a:rPr lang="en-IN" dirty="0">
                <a:solidFill>
                  <a:schemeClr val="bg1"/>
                </a:solidFill>
                <a:latin typeface="Segoe UI Semibold" panose="020B0702040204020203" pitchFamily="34" charset="0"/>
                <a:cs typeface="Segoe UI Semibold" panose="020B0702040204020203" pitchFamily="34" charset="0"/>
              </a:rPr>
              <a:t>A small number of product categories generate a significant share of revenue.</a:t>
            </a:r>
          </a:p>
          <a:p>
            <a:r>
              <a:rPr lang="en-IN" dirty="0">
                <a:solidFill>
                  <a:srgbClr val="00B050"/>
                </a:solidFill>
                <a:latin typeface="Segoe UI Semibold" panose="020B0702040204020203" pitchFamily="34" charset="0"/>
                <a:cs typeface="Segoe UI Semibold" panose="020B0702040204020203" pitchFamily="34" charset="0"/>
              </a:rPr>
              <a:t>Action</a:t>
            </a:r>
            <a:r>
              <a:rPr lang="en-IN" dirty="0">
                <a:solidFill>
                  <a:schemeClr val="bg1"/>
                </a:solidFill>
                <a:latin typeface="Segoe UI Semibold" panose="020B0702040204020203" pitchFamily="34" charset="0"/>
                <a:cs typeface="Segoe UI Semibold" panose="020B0702040204020203" pitchFamily="34" charset="0"/>
              </a:rPr>
              <a:t>: Focus inventory and marketing investment on top-performing categories</a:t>
            </a:r>
          </a:p>
          <a:p>
            <a:endParaRPr lang="en-IN" dirty="0">
              <a:solidFill>
                <a:schemeClr val="bg1"/>
              </a:solidFill>
              <a:latin typeface="Segoe UI Semibold" panose="020B0702040204020203" pitchFamily="34" charset="0"/>
              <a:cs typeface="Segoe UI Semibold" panose="020B0702040204020203" pitchFamily="34" charset="0"/>
            </a:endParaRPr>
          </a:p>
          <a:p>
            <a:endParaRPr lang="en-IN" dirty="0">
              <a:solidFill>
                <a:schemeClr val="bg1"/>
              </a:solidFill>
              <a:latin typeface="Segoe UI Semibold" panose="020B0702040204020203" pitchFamily="34" charset="0"/>
              <a:cs typeface="Segoe UI Semibold" panose="020B0702040204020203" pitchFamily="34" charset="0"/>
            </a:endParaRPr>
          </a:p>
          <a:p>
            <a:r>
              <a:rPr lang="en-IN" b="1" dirty="0">
                <a:solidFill>
                  <a:srgbClr val="00B0F0"/>
                </a:solidFill>
                <a:latin typeface="Segoe UI Semibold" panose="020B0702040204020203" pitchFamily="34" charset="0"/>
                <a:cs typeface="Segoe UI Semibold" panose="020B0702040204020203" pitchFamily="34" charset="0"/>
              </a:rPr>
              <a:t>Insight 2 — Customer Satisfaction</a:t>
            </a:r>
          </a:p>
          <a:p>
            <a:r>
              <a:rPr lang="en-IN" dirty="0">
                <a:solidFill>
                  <a:schemeClr val="bg1"/>
                </a:solidFill>
                <a:latin typeface="Segoe UI Semibold" panose="020B0702040204020203" pitchFamily="34" charset="0"/>
                <a:cs typeface="Segoe UI Semibold" panose="020B0702040204020203" pitchFamily="34" charset="0"/>
              </a:rPr>
              <a:t>Most reviews fall within higher rating ranges.</a:t>
            </a:r>
          </a:p>
          <a:p>
            <a:r>
              <a:rPr lang="en-IN" b="1" dirty="0">
                <a:solidFill>
                  <a:srgbClr val="00B0F0"/>
                </a:solidFill>
                <a:latin typeface="Segoe UI Semibold" panose="020B0702040204020203" pitchFamily="34" charset="0"/>
                <a:cs typeface="Segoe UI Semibold" panose="020B0702040204020203" pitchFamily="34" charset="0"/>
              </a:rPr>
              <a:t>Action</a:t>
            </a:r>
            <a:r>
              <a:rPr lang="en-IN" b="1" dirty="0">
                <a:solidFill>
                  <a:schemeClr val="bg1"/>
                </a:solidFill>
                <a:latin typeface="Segoe UI Semibold" panose="020B0702040204020203" pitchFamily="34" charset="0"/>
                <a:cs typeface="Segoe UI Semibold" panose="020B0702040204020203" pitchFamily="34" charset="0"/>
              </a:rPr>
              <a:t>:</a:t>
            </a:r>
            <a:r>
              <a:rPr lang="en-IN" dirty="0">
                <a:solidFill>
                  <a:schemeClr val="bg1"/>
                </a:solidFill>
                <a:latin typeface="Segoe UI Semibold" panose="020B0702040204020203" pitchFamily="34" charset="0"/>
                <a:cs typeface="Segoe UI Semibold" panose="020B0702040204020203" pitchFamily="34" charset="0"/>
              </a:rPr>
              <a:t> Maintain quality standards while addressing low-rated categories.</a:t>
            </a:r>
          </a:p>
          <a:p>
            <a:endParaRPr lang="en-IN" dirty="0">
              <a:solidFill>
                <a:schemeClr val="bg1"/>
              </a:solidFill>
              <a:latin typeface="Segoe UI Semibold" panose="020B0702040204020203" pitchFamily="34" charset="0"/>
              <a:cs typeface="Segoe UI Semibold" panose="020B0702040204020203" pitchFamily="34" charset="0"/>
            </a:endParaRPr>
          </a:p>
          <a:p>
            <a:endParaRPr lang="en-IN" dirty="0">
              <a:solidFill>
                <a:schemeClr val="bg1"/>
              </a:solidFill>
              <a:latin typeface="Segoe UI Semibold" panose="020B0702040204020203" pitchFamily="34" charset="0"/>
              <a:cs typeface="Segoe UI Semibold" panose="020B0702040204020203" pitchFamily="34" charset="0"/>
            </a:endParaRPr>
          </a:p>
          <a:p>
            <a:r>
              <a:rPr lang="en-IN" b="1" dirty="0">
                <a:solidFill>
                  <a:srgbClr val="FFC000"/>
                </a:solidFill>
                <a:latin typeface="Segoe UI Semibold" panose="020B0702040204020203" pitchFamily="34" charset="0"/>
                <a:cs typeface="Segoe UI Semibold" panose="020B0702040204020203" pitchFamily="34" charset="0"/>
              </a:rPr>
              <a:t>Insight 3 — Logistics Performance</a:t>
            </a:r>
          </a:p>
          <a:p>
            <a:r>
              <a:rPr lang="en-IN" b="1" dirty="0">
                <a:solidFill>
                  <a:schemeClr val="bg1"/>
                </a:solidFill>
                <a:latin typeface="Segoe UI Semibold" panose="020B0702040204020203" pitchFamily="34" charset="0"/>
                <a:cs typeface="Segoe UI Semibold" panose="020B0702040204020203" pitchFamily="34" charset="0"/>
              </a:rPr>
              <a:t>Majority of orders are delivered on time.</a:t>
            </a:r>
          </a:p>
          <a:p>
            <a:r>
              <a:rPr lang="en-IN" b="1" dirty="0">
                <a:solidFill>
                  <a:srgbClr val="FFC000"/>
                </a:solidFill>
                <a:latin typeface="Segoe UI Semibold" panose="020B0702040204020203" pitchFamily="34" charset="0"/>
                <a:cs typeface="Segoe UI Semibold" panose="020B0702040204020203" pitchFamily="34" charset="0"/>
              </a:rPr>
              <a:t>Action</a:t>
            </a:r>
            <a:r>
              <a:rPr lang="en-IN" b="1" dirty="0">
                <a:solidFill>
                  <a:schemeClr val="bg1"/>
                </a:solidFill>
                <a:latin typeface="Segoe UI Semibold" panose="020B0702040204020203" pitchFamily="34" charset="0"/>
                <a:cs typeface="Segoe UI Semibold" panose="020B0702040204020203" pitchFamily="34" charset="0"/>
              </a:rPr>
              <a:t>: Monitor delayed deliveries to improve customer experience.</a:t>
            </a:r>
          </a:p>
          <a:p>
            <a:endParaRPr lang="en-IN" dirty="0">
              <a:solidFill>
                <a:schemeClr val="bg1"/>
              </a:solidFill>
              <a:latin typeface="Segoe UI Semibold" panose="020B0702040204020203" pitchFamily="34" charset="0"/>
              <a:cs typeface="Segoe UI Semibold" panose="020B0702040204020203" pitchFamily="34" charset="0"/>
            </a:endParaRPr>
          </a:p>
          <a:p>
            <a:endParaRPr lang="en-IN" dirty="0">
              <a:solidFill>
                <a:schemeClr val="bg1"/>
              </a:solidFill>
              <a:latin typeface="Segoe UI Semibold" panose="020B0702040204020203" pitchFamily="34" charset="0"/>
              <a:cs typeface="Segoe UI Semibold" panose="020B0702040204020203" pitchFamily="34" charset="0"/>
            </a:endParaRPr>
          </a:p>
        </p:txBody>
      </p:sp>
      <p:cxnSp>
        <p:nvCxnSpPr>
          <p:cNvPr id="4" name="Straight Connector 3">
            <a:extLst>
              <a:ext uri="{FF2B5EF4-FFF2-40B4-BE49-F238E27FC236}">
                <a16:creationId xmlns:a16="http://schemas.microsoft.com/office/drawing/2014/main" id="{39B723DC-53DA-EA2C-D813-45874F8D5434}"/>
              </a:ext>
            </a:extLst>
          </p:cNvPr>
          <p:cNvCxnSpPr>
            <a:cxnSpLocks/>
          </p:cNvCxnSpPr>
          <p:nvPr/>
        </p:nvCxnSpPr>
        <p:spPr>
          <a:xfrm>
            <a:off x="80603" y="598190"/>
            <a:ext cx="3459010" cy="0"/>
          </a:xfrm>
          <a:prstGeom prst="line">
            <a:avLst/>
          </a:prstGeom>
          <a:ln w="28575">
            <a:solidFill>
              <a:srgbClr val="14B8A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4475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6111F"/>
        </a:solidFill>
        <a:effectLst/>
      </p:bgPr>
    </p:bg>
    <p:spTree>
      <p:nvGrpSpPr>
        <p:cNvPr id="1" name="">
          <a:extLst>
            <a:ext uri="{FF2B5EF4-FFF2-40B4-BE49-F238E27FC236}">
              <a16:creationId xmlns:a16="http://schemas.microsoft.com/office/drawing/2014/main" id="{8FA35C57-498B-803B-8B16-E96C58760E4F}"/>
            </a:ext>
          </a:extLst>
        </p:cNvPr>
        <p:cNvGrpSpPr/>
        <p:nvPr/>
      </p:nvGrpSpPr>
      <p:grpSpPr>
        <a:xfrm>
          <a:off x="0" y="0"/>
          <a:ext cx="0" cy="0"/>
          <a:chOff x="0" y="0"/>
          <a:chExt cx="0" cy="0"/>
        </a:xfrm>
      </p:grpSpPr>
      <p:sp>
        <p:nvSpPr>
          <p:cNvPr id="13" name="Footer Placeholder 12">
            <a:extLst>
              <a:ext uri="{FF2B5EF4-FFF2-40B4-BE49-F238E27FC236}">
                <a16:creationId xmlns:a16="http://schemas.microsoft.com/office/drawing/2014/main" id="{0BCB105C-899F-0934-CE7A-4EC1021D7B6A}"/>
              </a:ext>
            </a:extLst>
          </p:cNvPr>
          <p:cNvSpPr>
            <a:spLocks noGrp="1"/>
          </p:cNvSpPr>
          <p:nvPr>
            <p:ph type="ftr" sz="quarter" idx="11"/>
          </p:nvPr>
        </p:nvSpPr>
        <p:spPr/>
        <p:txBody>
          <a:bodyPr/>
          <a:lstStyle/>
          <a:p>
            <a:r>
              <a:rPr lang="en-US" dirty="0">
                <a:solidFill>
                  <a:srgbClr val="CBD5E1"/>
                </a:solidFill>
              </a:rPr>
              <a:t>Power BI | Ecommerce Analytics | Bharath Gowda J M</a:t>
            </a:r>
            <a:endParaRPr lang="en-IN" dirty="0">
              <a:solidFill>
                <a:srgbClr val="CBD5E1"/>
              </a:solidFill>
            </a:endParaRPr>
          </a:p>
        </p:txBody>
      </p:sp>
      <p:sp>
        <p:nvSpPr>
          <p:cNvPr id="14" name="TextBox 13">
            <a:extLst>
              <a:ext uri="{FF2B5EF4-FFF2-40B4-BE49-F238E27FC236}">
                <a16:creationId xmlns:a16="http://schemas.microsoft.com/office/drawing/2014/main" id="{23E223A6-03FE-9BA4-5A97-49C65CE6FF3E}"/>
              </a:ext>
            </a:extLst>
          </p:cNvPr>
          <p:cNvSpPr txBox="1"/>
          <p:nvPr/>
        </p:nvSpPr>
        <p:spPr>
          <a:xfrm>
            <a:off x="1" y="136525"/>
            <a:ext cx="4038600" cy="461665"/>
          </a:xfrm>
          <a:prstGeom prst="rect">
            <a:avLst/>
          </a:prstGeom>
          <a:noFill/>
        </p:spPr>
        <p:txBody>
          <a:bodyPr wrap="square" rtlCol="0">
            <a:spAutoFit/>
          </a:bodyPr>
          <a:lstStyle/>
          <a:p>
            <a:r>
              <a:rPr lang="en-US" sz="2400" b="1" dirty="0">
                <a:solidFill>
                  <a:schemeClr val="bg1"/>
                </a:solidFill>
                <a:latin typeface="Segoe UI Semibold" panose="020B0702040204020203" pitchFamily="34" charset="0"/>
                <a:cs typeface="Segoe UI Semibold" panose="020B0702040204020203" pitchFamily="34" charset="0"/>
              </a:rPr>
              <a:t>C</a:t>
            </a:r>
            <a:r>
              <a:rPr lang="en-IN" sz="2400" b="1" dirty="0">
                <a:solidFill>
                  <a:schemeClr val="bg1"/>
                </a:solidFill>
                <a:latin typeface="Segoe UI Semibold" panose="020B0702040204020203" pitchFamily="34" charset="0"/>
                <a:cs typeface="Segoe UI Semibold" panose="020B0702040204020203" pitchFamily="34" charset="0"/>
              </a:rPr>
              <a:t>ONCLUSION</a:t>
            </a:r>
          </a:p>
        </p:txBody>
      </p:sp>
      <p:sp>
        <p:nvSpPr>
          <p:cNvPr id="3" name="TextBox 2">
            <a:extLst>
              <a:ext uri="{FF2B5EF4-FFF2-40B4-BE49-F238E27FC236}">
                <a16:creationId xmlns:a16="http://schemas.microsoft.com/office/drawing/2014/main" id="{375CF4FF-512A-8D70-856C-9E0287A68059}"/>
              </a:ext>
            </a:extLst>
          </p:cNvPr>
          <p:cNvSpPr txBox="1"/>
          <p:nvPr/>
        </p:nvSpPr>
        <p:spPr>
          <a:xfrm>
            <a:off x="383457" y="1112172"/>
            <a:ext cx="11307098" cy="4955203"/>
          </a:xfrm>
          <a:prstGeom prst="rect">
            <a:avLst/>
          </a:prstGeom>
          <a:noFill/>
        </p:spPr>
        <p:txBody>
          <a:bodyPr wrap="square" rtlCol="0">
            <a:spAutoFit/>
          </a:bodyPr>
          <a:lstStyle/>
          <a:p>
            <a:r>
              <a:rPr lang="en-IN" sz="2000" dirty="0">
                <a:solidFill>
                  <a:schemeClr val="bg2">
                    <a:lumMod val="90000"/>
                  </a:schemeClr>
                </a:solidFill>
                <a:latin typeface="Segoe UI Semibold" panose="020B0702040204020203" pitchFamily="34" charset="0"/>
                <a:cs typeface="Segoe UI Semibold" panose="020B0702040204020203" pitchFamily="34" charset="0"/>
              </a:rPr>
              <a:t>The Olist Ecommerce Analytics Dashboard successfully transformed raw ecommerce data into an interactive business intelligence solution using Power BI. By leveraging data modeling, DAX measures, and advanced visualizations, the dashboard provides actionable insights into sales performance, customer satisfaction, seller contribution, and logistics efficiency.</a:t>
            </a:r>
          </a:p>
          <a:p>
            <a:endParaRPr lang="en-IN" sz="2000" dirty="0">
              <a:solidFill>
                <a:schemeClr val="bg2">
                  <a:lumMod val="90000"/>
                </a:schemeClr>
              </a:solidFill>
              <a:latin typeface="Segoe UI Semibold" panose="020B0702040204020203" pitchFamily="34" charset="0"/>
              <a:cs typeface="Segoe UI Semibold" panose="020B0702040204020203" pitchFamily="34" charset="0"/>
            </a:endParaRPr>
          </a:p>
          <a:p>
            <a:r>
              <a:rPr lang="en-IN" sz="2000" dirty="0">
                <a:solidFill>
                  <a:schemeClr val="bg2">
                    <a:lumMod val="90000"/>
                  </a:schemeClr>
                </a:solidFill>
                <a:latin typeface="Segoe UI Semibold" panose="020B0702040204020203" pitchFamily="34" charset="0"/>
                <a:cs typeface="Segoe UI Semibold" panose="020B0702040204020203" pitchFamily="34" charset="0"/>
              </a:rPr>
              <a:t>This project demonstrates strong skills in </a:t>
            </a:r>
            <a:r>
              <a:rPr lang="en-IN" sz="2000" b="1" dirty="0">
                <a:solidFill>
                  <a:schemeClr val="bg2">
                    <a:lumMod val="90000"/>
                  </a:schemeClr>
                </a:solidFill>
                <a:latin typeface="Segoe UI Semibold" panose="020B0702040204020203" pitchFamily="34" charset="0"/>
                <a:cs typeface="Segoe UI Semibold" panose="020B0702040204020203" pitchFamily="34" charset="0"/>
              </a:rPr>
              <a:t>Power BI, DAX, data modeling, KPI development, and business storytelling</a:t>
            </a:r>
            <a:r>
              <a:rPr lang="en-IN" sz="2000" dirty="0">
                <a:solidFill>
                  <a:schemeClr val="bg2">
                    <a:lumMod val="90000"/>
                  </a:schemeClr>
                </a:solidFill>
                <a:latin typeface="Segoe UI Semibold" panose="020B0702040204020203" pitchFamily="34" charset="0"/>
                <a:cs typeface="Segoe UI Semibold" panose="020B0702040204020203" pitchFamily="34" charset="0"/>
              </a:rPr>
              <a:t>, enabling data-driven decision-making through a modern and user-friendly analytics platform.</a:t>
            </a:r>
          </a:p>
          <a:p>
            <a:endParaRPr lang="en-IN" sz="2000" dirty="0">
              <a:solidFill>
                <a:schemeClr val="bg2">
                  <a:lumMod val="90000"/>
                </a:schemeClr>
              </a:solidFill>
              <a:latin typeface="Segoe UI Semibold" panose="020B0702040204020203" pitchFamily="34" charset="0"/>
              <a:cs typeface="Segoe UI Semibold" panose="020B0702040204020203" pitchFamily="34" charset="0"/>
            </a:endParaRPr>
          </a:p>
          <a:p>
            <a:pPr marL="342900" indent="-342900">
              <a:buFont typeface="Arial" panose="020B0604020202020204" pitchFamily="34" charset="0"/>
              <a:buChar char="•"/>
            </a:pPr>
            <a:r>
              <a:rPr lang="en-IN" sz="2000" dirty="0">
                <a:solidFill>
                  <a:schemeClr val="bg2">
                    <a:lumMod val="90000"/>
                  </a:schemeClr>
                </a:solidFill>
                <a:latin typeface="Segoe UI Semibold" panose="020B0702040204020203" pitchFamily="34" charset="0"/>
                <a:cs typeface="Segoe UI Semibold" panose="020B0702040204020203" pitchFamily="34" charset="0"/>
              </a:rPr>
              <a:t>Developed business-focused KPIs using DAX and data modeling techniques.</a:t>
            </a:r>
          </a:p>
          <a:p>
            <a:pPr marL="342900" indent="-342900">
              <a:buFont typeface="Arial" panose="020B0604020202020204" pitchFamily="34" charset="0"/>
              <a:buChar char="•"/>
            </a:pPr>
            <a:r>
              <a:rPr lang="en-IN" sz="2000" dirty="0">
                <a:solidFill>
                  <a:schemeClr val="bg2">
                    <a:lumMod val="90000"/>
                  </a:schemeClr>
                </a:solidFill>
                <a:latin typeface="Segoe UI Semibold" panose="020B0702040204020203" pitchFamily="34" charset="0"/>
                <a:cs typeface="Segoe UI Semibold" panose="020B0702040204020203" pitchFamily="34" charset="0"/>
              </a:rPr>
              <a:t>Identified revenue, customer, logistics, and seller performance trends.</a:t>
            </a:r>
          </a:p>
          <a:p>
            <a:pPr marL="342900" indent="-342900">
              <a:buFont typeface="Arial" panose="020B0604020202020204" pitchFamily="34" charset="0"/>
              <a:buChar char="•"/>
            </a:pPr>
            <a:r>
              <a:rPr lang="en-IN" sz="2000" dirty="0">
                <a:solidFill>
                  <a:schemeClr val="bg2">
                    <a:lumMod val="90000"/>
                  </a:schemeClr>
                </a:solidFill>
                <a:latin typeface="Segoe UI Semibold" panose="020B0702040204020203" pitchFamily="34" charset="0"/>
                <a:cs typeface="Segoe UI Semibold" panose="020B0702040204020203" pitchFamily="34" charset="0"/>
              </a:rPr>
              <a:t>Improved data accessibility through intuitive and interactive visual storytelling.</a:t>
            </a:r>
          </a:p>
          <a:p>
            <a:pPr marL="342900" indent="-342900">
              <a:buFont typeface="Arial" panose="020B0604020202020204" pitchFamily="34" charset="0"/>
              <a:buChar char="•"/>
            </a:pPr>
            <a:r>
              <a:rPr lang="en-IN" sz="2000" dirty="0">
                <a:solidFill>
                  <a:schemeClr val="bg2">
                    <a:lumMod val="90000"/>
                  </a:schemeClr>
                </a:solidFill>
                <a:latin typeface="Segoe UI Semibold" panose="020B0702040204020203" pitchFamily="34" charset="0"/>
                <a:cs typeface="Segoe UI Semibold" panose="020B0702040204020203" pitchFamily="34" charset="0"/>
              </a:rPr>
              <a:t>Demonstrated end-to-end Business Intelligence and Data Analytics capabilities</a:t>
            </a:r>
          </a:p>
          <a:p>
            <a:endParaRPr lang="en-IN" sz="2000" dirty="0">
              <a:solidFill>
                <a:schemeClr val="bg2">
                  <a:lumMod val="90000"/>
                </a:schemeClr>
              </a:solidFill>
              <a:latin typeface="Segoe UI Semibold" panose="020B0702040204020203" pitchFamily="34" charset="0"/>
              <a:cs typeface="Segoe UI Semibold" panose="020B0702040204020203" pitchFamily="34" charset="0"/>
            </a:endParaRPr>
          </a:p>
          <a:p>
            <a:endParaRPr lang="en-IN" dirty="0">
              <a:solidFill>
                <a:schemeClr val="bg1"/>
              </a:solidFill>
              <a:latin typeface="Segoe UI Semibold" panose="020B0702040204020203" pitchFamily="34" charset="0"/>
              <a:cs typeface="Segoe UI Semibold" panose="020B0702040204020203" pitchFamily="34" charset="0"/>
            </a:endParaRPr>
          </a:p>
          <a:p>
            <a:endParaRPr lang="en-IN" dirty="0">
              <a:solidFill>
                <a:schemeClr val="bg1"/>
              </a:solidFill>
              <a:latin typeface="Segoe UI Semibold" panose="020B0702040204020203" pitchFamily="34" charset="0"/>
              <a:cs typeface="Segoe UI Semibold" panose="020B0702040204020203" pitchFamily="34" charset="0"/>
            </a:endParaRPr>
          </a:p>
        </p:txBody>
      </p:sp>
      <p:cxnSp>
        <p:nvCxnSpPr>
          <p:cNvPr id="4" name="Straight Connector 3">
            <a:extLst>
              <a:ext uri="{FF2B5EF4-FFF2-40B4-BE49-F238E27FC236}">
                <a16:creationId xmlns:a16="http://schemas.microsoft.com/office/drawing/2014/main" id="{786396D8-72B9-4372-6DC1-AAEFB4BA4241}"/>
              </a:ext>
            </a:extLst>
          </p:cNvPr>
          <p:cNvCxnSpPr>
            <a:cxnSpLocks/>
            <a:endCxn id="14" idx="2"/>
          </p:cNvCxnSpPr>
          <p:nvPr/>
        </p:nvCxnSpPr>
        <p:spPr>
          <a:xfrm>
            <a:off x="80603" y="598190"/>
            <a:ext cx="1938698" cy="0"/>
          </a:xfrm>
          <a:prstGeom prst="line">
            <a:avLst/>
          </a:prstGeom>
          <a:ln w="28575">
            <a:solidFill>
              <a:srgbClr val="14B8A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2855415"/>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2013 - 2022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2">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C4D72B5-9901-4F2F-AE6B-E774A4DA89A8}">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133</TotalTime>
  <Words>542</Words>
  <Application>Microsoft Office PowerPoint</Application>
  <PresentationFormat>Widescreen</PresentationFormat>
  <Paragraphs>115</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Segoe UI Semibold</vt:lpstr>
      <vt:lpstr>Wingdings</vt:lpstr>
      <vt:lpstr>Office Theme</vt:lpstr>
      <vt:lpstr>Olist E-commerce Analytics Dashboard</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BHARATH GOWDA</dc:creator>
  <cp:lastModifiedBy>BHARATH GOWDA</cp:lastModifiedBy>
  <cp:revision>33</cp:revision>
  <dcterms:created xsi:type="dcterms:W3CDTF">2026-06-08T02:23:17Z</dcterms:created>
  <dcterms:modified xsi:type="dcterms:W3CDTF">2026-06-08T04:36:27Z</dcterms:modified>
</cp:coreProperties>
</file>